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Playfair Display" charset="1" panose="00000500000000000000"/>
      <p:regular r:id="rId18"/>
    </p:embeddedFont>
    <p:embeddedFont>
      <p:font typeface="Ubuntu" charset="1" panose="020B0504030602030204"/>
      <p:regular r:id="rId19"/>
    </p:embeddedFont>
    <p:embeddedFont>
      <p:font typeface="Public Sans Bold" charset="1" panose="00000000000000000000"/>
      <p:regular r:id="rId20"/>
    </p:embeddedFont>
    <p:embeddedFont>
      <p:font typeface="Public Sans" charset="1" panose="00000000000000000000"/>
      <p:regular r:id="rId21"/>
    </p:embeddedFont>
    <p:embeddedFont>
      <p:font typeface="Playfair Display Italics" charset="1" panose="000005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 Id="rId6" Target="../media/image17.png" Type="http://schemas.openxmlformats.org/officeDocument/2006/relationships/image"/><Relationship Id="rId7" Target="../media/image1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https://github.com/Jenny25G/Image-Steganography-using-Python" TargetMode="External" Type="http://schemas.openxmlformats.org/officeDocument/2006/relationships/hyperlink"/><Relationship Id="rId2" Target="../media/image1.png" Type="http://schemas.openxmlformats.org/officeDocument/2006/relationships/image"/><Relationship Id="rId3" Target="../media/image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png" Type="http://schemas.openxmlformats.org/officeDocument/2006/relationships/image"/><Relationship Id="rId11" Target="../media/image3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29.png" Type="http://schemas.openxmlformats.org/officeDocument/2006/relationships/image"/><Relationship Id="rId5" Target="../media/image30.pn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 Id="rId8" Target="../media/image33.png" Type="http://schemas.openxmlformats.org/officeDocument/2006/relationships/image"/><Relationship Id="rId9" Target="../media/image3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AutoShape 2" id="2"/>
          <p:cNvSpPr/>
          <p:nvPr/>
        </p:nvSpPr>
        <p:spPr>
          <a:xfrm flipV="true">
            <a:off x="846966" y="2000931"/>
            <a:ext cx="16230594" cy="38509"/>
          </a:xfrm>
          <a:prstGeom prst="line">
            <a:avLst/>
          </a:prstGeom>
          <a:ln cap="flat" w="9525">
            <a:solidFill>
              <a:srgbClr val="2B2C30"/>
            </a:solidFill>
            <a:prstDash val="solid"/>
            <a:headEnd type="none" len="sm" w="sm"/>
            <a:tailEnd type="none" len="sm" w="sm"/>
          </a:ln>
        </p:spPr>
      </p:sp>
      <p:sp>
        <p:nvSpPr>
          <p:cNvPr name="Freeform 3" id="3"/>
          <p:cNvSpPr/>
          <p:nvPr/>
        </p:nvSpPr>
        <p:spPr>
          <a:xfrm flipH="false" flipV="false" rot="0">
            <a:off x="17259300" y="9116745"/>
            <a:ext cx="535737" cy="727544"/>
          </a:xfrm>
          <a:custGeom>
            <a:avLst/>
            <a:gdLst/>
            <a:ahLst/>
            <a:cxnLst/>
            <a:rect r="r" b="b" t="t" l="l"/>
            <a:pathLst>
              <a:path h="727544" w="535737">
                <a:moveTo>
                  <a:pt x="0" y="0"/>
                </a:moveTo>
                <a:lnTo>
                  <a:pt x="535737" y="0"/>
                </a:lnTo>
                <a:lnTo>
                  <a:pt x="535737" y="727544"/>
                </a:lnTo>
                <a:lnTo>
                  <a:pt x="0" y="7275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4178920" y="1135066"/>
            <a:ext cx="539362" cy="543313"/>
          </a:xfrm>
          <a:custGeom>
            <a:avLst/>
            <a:gdLst/>
            <a:ahLst/>
            <a:cxnLst/>
            <a:rect r="r" b="b" t="t" l="l"/>
            <a:pathLst>
              <a:path h="543313" w="539362">
                <a:moveTo>
                  <a:pt x="0" y="0"/>
                </a:moveTo>
                <a:lnTo>
                  <a:pt x="539361" y="0"/>
                </a:lnTo>
                <a:lnTo>
                  <a:pt x="539361" y="543313"/>
                </a:lnTo>
                <a:lnTo>
                  <a:pt x="0" y="5433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674623" y="3892476"/>
            <a:ext cx="784790" cy="1084509"/>
          </a:xfrm>
          <a:custGeom>
            <a:avLst/>
            <a:gdLst/>
            <a:ahLst/>
            <a:cxnLst/>
            <a:rect r="r" b="b" t="t" l="l"/>
            <a:pathLst>
              <a:path h="1084509" w="784790">
                <a:moveTo>
                  <a:pt x="0" y="0"/>
                </a:moveTo>
                <a:lnTo>
                  <a:pt x="784790" y="0"/>
                </a:lnTo>
                <a:lnTo>
                  <a:pt x="784790" y="1084509"/>
                </a:lnTo>
                <a:lnTo>
                  <a:pt x="0" y="10845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6003750" y="4064002"/>
            <a:ext cx="901466" cy="741456"/>
          </a:xfrm>
          <a:custGeom>
            <a:avLst/>
            <a:gdLst/>
            <a:ahLst/>
            <a:cxnLst/>
            <a:rect r="r" b="b" t="t" l="l"/>
            <a:pathLst>
              <a:path h="741456" w="901466">
                <a:moveTo>
                  <a:pt x="0" y="0"/>
                </a:moveTo>
                <a:lnTo>
                  <a:pt x="901467" y="0"/>
                </a:lnTo>
                <a:lnTo>
                  <a:pt x="901467" y="741456"/>
                </a:lnTo>
                <a:lnTo>
                  <a:pt x="0" y="741456"/>
                </a:lnTo>
                <a:lnTo>
                  <a:pt x="0" y="0"/>
                </a:lnTo>
                <a:close/>
              </a:path>
            </a:pathLst>
          </a:custGeom>
          <a:blipFill>
            <a:blip r:embed="rId8"/>
            <a:stretch>
              <a:fillRect l="0" t="0" r="0" b="0"/>
            </a:stretch>
          </a:blipFill>
        </p:spPr>
      </p:sp>
      <p:sp>
        <p:nvSpPr>
          <p:cNvPr name="TextBox 7" id="7"/>
          <p:cNvSpPr txBox="true"/>
          <p:nvPr/>
        </p:nvSpPr>
        <p:spPr>
          <a:xfrm rot="0">
            <a:off x="1583866" y="1044773"/>
            <a:ext cx="14412107" cy="4433538"/>
          </a:xfrm>
          <a:prstGeom prst="rect">
            <a:avLst/>
          </a:prstGeom>
        </p:spPr>
        <p:txBody>
          <a:bodyPr anchor="t" rtlCol="false" tIns="0" lIns="0" bIns="0" rIns="0">
            <a:spAutoFit/>
          </a:bodyPr>
          <a:lstStyle/>
          <a:p>
            <a:pPr algn="ctr">
              <a:lnSpc>
                <a:spcPts val="5879"/>
              </a:lnSpc>
            </a:pPr>
            <a:r>
              <a:rPr lang="en-US" sz="6461" spc="32">
                <a:solidFill>
                  <a:srgbClr val="2B2C30"/>
                </a:solidFill>
                <a:latin typeface="Playfair Display"/>
                <a:ea typeface="Playfair Display"/>
                <a:cs typeface="Playfair Display"/>
                <a:sym typeface="Playfair Display"/>
              </a:rPr>
              <a:t>CAPSTONE PROJECT</a:t>
            </a:r>
          </a:p>
          <a:p>
            <a:pPr algn="ctr">
              <a:lnSpc>
                <a:spcPts val="5879"/>
              </a:lnSpc>
            </a:pPr>
          </a:p>
          <a:p>
            <a:pPr algn="ctr">
              <a:lnSpc>
                <a:spcPts val="7517"/>
              </a:lnSpc>
            </a:pPr>
            <a:r>
              <a:rPr lang="en-US" sz="8261" spc="41">
                <a:solidFill>
                  <a:srgbClr val="2B2C30"/>
                </a:solidFill>
                <a:latin typeface="Playfair Display"/>
                <a:ea typeface="Playfair Display"/>
                <a:cs typeface="Playfair Display"/>
                <a:sym typeface="Playfair Display"/>
              </a:rPr>
              <a:t>SECURE DATA HIDING IN IMAGES USING STEGANOGRAPHY</a:t>
            </a:r>
          </a:p>
        </p:txBody>
      </p:sp>
      <p:sp>
        <p:nvSpPr>
          <p:cNvPr name="Freeform 8" id="8"/>
          <p:cNvSpPr/>
          <p:nvPr/>
        </p:nvSpPr>
        <p:spPr>
          <a:xfrm flipH="false" flipV="false" rot="0">
            <a:off x="12992520" y="1135066"/>
            <a:ext cx="539362" cy="543313"/>
          </a:xfrm>
          <a:custGeom>
            <a:avLst/>
            <a:gdLst/>
            <a:ahLst/>
            <a:cxnLst/>
            <a:rect r="r" b="b" t="t" l="l"/>
            <a:pathLst>
              <a:path h="543313" w="539362">
                <a:moveTo>
                  <a:pt x="0" y="0"/>
                </a:moveTo>
                <a:lnTo>
                  <a:pt x="539361" y="0"/>
                </a:lnTo>
                <a:lnTo>
                  <a:pt x="539361" y="543313"/>
                </a:lnTo>
                <a:lnTo>
                  <a:pt x="0" y="5433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459413" y="7747862"/>
            <a:ext cx="1198902" cy="1177104"/>
          </a:xfrm>
          <a:custGeom>
            <a:avLst/>
            <a:gdLst/>
            <a:ahLst/>
            <a:cxnLst/>
            <a:rect r="r" b="b" t="t" l="l"/>
            <a:pathLst>
              <a:path h="1177104" w="1198902">
                <a:moveTo>
                  <a:pt x="0" y="0"/>
                </a:moveTo>
                <a:lnTo>
                  <a:pt x="1198902" y="0"/>
                </a:lnTo>
                <a:lnTo>
                  <a:pt x="1198902" y="1177103"/>
                </a:lnTo>
                <a:lnTo>
                  <a:pt x="0" y="117710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15610108" y="7555255"/>
            <a:ext cx="1467463" cy="1280695"/>
          </a:xfrm>
          <a:custGeom>
            <a:avLst/>
            <a:gdLst/>
            <a:ahLst/>
            <a:cxnLst/>
            <a:rect r="r" b="b" t="t" l="l"/>
            <a:pathLst>
              <a:path h="1280695" w="1467463">
                <a:moveTo>
                  <a:pt x="0" y="0"/>
                </a:moveTo>
                <a:lnTo>
                  <a:pt x="1467463" y="0"/>
                </a:lnTo>
                <a:lnTo>
                  <a:pt x="1467463" y="1280695"/>
                </a:lnTo>
                <a:lnTo>
                  <a:pt x="0" y="128069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1" id="11"/>
          <p:cNvSpPr txBox="true"/>
          <p:nvPr/>
        </p:nvSpPr>
        <p:spPr>
          <a:xfrm rot="0">
            <a:off x="1753220" y="6071245"/>
            <a:ext cx="14453864" cy="2853721"/>
          </a:xfrm>
          <a:prstGeom prst="rect">
            <a:avLst/>
          </a:prstGeom>
        </p:spPr>
        <p:txBody>
          <a:bodyPr anchor="t" rtlCol="false" tIns="0" lIns="0" bIns="0" rIns="0">
            <a:spAutoFit/>
          </a:bodyPr>
          <a:lstStyle/>
          <a:p>
            <a:pPr algn="ctr">
              <a:lnSpc>
                <a:spcPts val="5023"/>
              </a:lnSpc>
            </a:pPr>
            <a:r>
              <a:rPr lang="en-US" sz="3349" u="sng">
                <a:solidFill>
                  <a:srgbClr val="463C35"/>
                </a:solidFill>
                <a:latin typeface="Ubuntu"/>
                <a:ea typeface="Ubuntu"/>
                <a:cs typeface="Ubuntu"/>
                <a:sym typeface="Ubuntu"/>
              </a:rPr>
              <a:t>Presented by:</a:t>
            </a:r>
            <a:r>
              <a:rPr lang="en-US" sz="3349">
                <a:solidFill>
                  <a:srgbClr val="463C35"/>
                </a:solidFill>
                <a:latin typeface="Ubuntu"/>
                <a:ea typeface="Ubuntu"/>
                <a:cs typeface="Ubuntu"/>
                <a:sym typeface="Ubuntu"/>
              </a:rPr>
              <a:t> SHIRLYN JENITA JASPER</a:t>
            </a:r>
          </a:p>
          <a:p>
            <a:pPr algn="ctr">
              <a:lnSpc>
                <a:spcPts val="5023"/>
              </a:lnSpc>
            </a:pPr>
            <a:r>
              <a:rPr lang="en-US" sz="3349" u="sng">
                <a:solidFill>
                  <a:srgbClr val="463C35"/>
                </a:solidFill>
                <a:latin typeface="Ubuntu"/>
                <a:ea typeface="Ubuntu"/>
                <a:cs typeface="Ubuntu"/>
                <a:sym typeface="Ubuntu"/>
              </a:rPr>
              <a:t>Submitted to:</a:t>
            </a:r>
            <a:r>
              <a:rPr lang="en-US" sz="3349">
                <a:solidFill>
                  <a:srgbClr val="463C35"/>
                </a:solidFill>
                <a:latin typeface="Ubuntu"/>
                <a:ea typeface="Ubuntu"/>
                <a:cs typeface="Ubuntu"/>
                <a:sym typeface="Ubuntu"/>
              </a:rPr>
              <a:t> Edunet foundation IBM skillsbuild Internship</a:t>
            </a:r>
          </a:p>
          <a:p>
            <a:pPr algn="ctr">
              <a:lnSpc>
                <a:spcPts val="4273"/>
              </a:lnSpc>
            </a:pPr>
            <a:r>
              <a:rPr lang="en-US" sz="2849">
                <a:solidFill>
                  <a:srgbClr val="463C35"/>
                </a:solidFill>
                <a:latin typeface="Ubuntu"/>
                <a:ea typeface="Ubuntu"/>
                <a:cs typeface="Ubuntu"/>
                <a:sym typeface="Ubuntu"/>
              </a:rPr>
              <a:t> </a:t>
            </a:r>
          </a:p>
          <a:p>
            <a:pPr algn="ctr">
              <a:lnSpc>
                <a:spcPts val="4273"/>
              </a:lnSpc>
            </a:pPr>
            <a:r>
              <a:rPr lang="en-US" sz="2849" u="sng">
                <a:solidFill>
                  <a:srgbClr val="463C35"/>
                </a:solidFill>
                <a:latin typeface="Ubuntu"/>
                <a:ea typeface="Ubuntu"/>
                <a:cs typeface="Ubuntu"/>
                <a:sym typeface="Ubuntu"/>
              </a:rPr>
              <a:t>College Name:</a:t>
            </a:r>
            <a:r>
              <a:rPr lang="en-US" sz="2849">
                <a:solidFill>
                  <a:srgbClr val="463C35"/>
                </a:solidFill>
                <a:latin typeface="Ubuntu"/>
                <a:ea typeface="Ubuntu"/>
                <a:cs typeface="Ubuntu"/>
                <a:sym typeface="Ubuntu"/>
              </a:rPr>
              <a:t> FATIMA COLLEGE</a:t>
            </a:r>
          </a:p>
          <a:p>
            <a:pPr algn="ctr">
              <a:lnSpc>
                <a:spcPts val="4273"/>
              </a:lnSpc>
            </a:pPr>
            <a:r>
              <a:rPr lang="en-US" sz="2849">
                <a:solidFill>
                  <a:srgbClr val="463C35"/>
                </a:solidFill>
                <a:latin typeface="Ubuntu"/>
                <a:ea typeface="Ubuntu"/>
                <a:cs typeface="Ubuntu"/>
                <a:sym typeface="Ubuntu"/>
              </a:rPr>
              <a:t> </a:t>
            </a:r>
            <a:r>
              <a:rPr lang="en-US" sz="2849" u="sng">
                <a:solidFill>
                  <a:srgbClr val="463C35"/>
                </a:solidFill>
                <a:latin typeface="Ubuntu"/>
                <a:ea typeface="Ubuntu"/>
                <a:cs typeface="Ubuntu"/>
                <a:sym typeface="Ubuntu"/>
              </a:rPr>
              <a:t>Department:</a:t>
            </a:r>
            <a:r>
              <a:rPr lang="en-US" sz="2849">
                <a:solidFill>
                  <a:srgbClr val="463C35"/>
                </a:solidFill>
                <a:latin typeface="Ubuntu"/>
                <a:ea typeface="Ubuntu"/>
                <a:cs typeface="Ubuntu"/>
                <a:sym typeface="Ubuntu"/>
              </a:rPr>
              <a:t> Computer Applications</a:t>
            </a:r>
          </a:p>
        </p:txBody>
      </p:sp>
      <p:sp>
        <p:nvSpPr>
          <p:cNvPr name="TextBox 12" id="12"/>
          <p:cNvSpPr txBox="true"/>
          <p:nvPr/>
        </p:nvSpPr>
        <p:spPr>
          <a:xfrm rot="0">
            <a:off x="158615" y="9565524"/>
            <a:ext cx="7828657" cy="490855"/>
          </a:xfrm>
          <a:prstGeom prst="rect">
            <a:avLst/>
          </a:prstGeom>
        </p:spPr>
        <p:txBody>
          <a:bodyPr anchor="t" rtlCol="false" tIns="0" lIns="0" bIns="0" rIns="0">
            <a:spAutoFit/>
          </a:bodyPr>
          <a:lstStyle/>
          <a:p>
            <a:pPr algn="ctr">
              <a:lnSpc>
                <a:spcPts val="3919"/>
              </a:lnSpc>
              <a:spcBef>
                <a:spcPct val="0"/>
              </a:spcBef>
            </a:pPr>
            <a:r>
              <a:rPr lang="en-US" b="true" sz="2799">
                <a:solidFill>
                  <a:srgbClr val="000000"/>
                </a:solidFill>
                <a:latin typeface="Public Sans Bold"/>
                <a:ea typeface="Public Sans Bold"/>
                <a:cs typeface="Public Sans Bold"/>
                <a:sym typeface="Public Sans Bold"/>
              </a:rPr>
              <a:t> Student ID: STU667ed5e035cc71719588320</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AutoShape 2" id="2"/>
          <p:cNvSpPr/>
          <p:nvPr/>
        </p:nvSpPr>
        <p:spPr>
          <a:xfrm flipV="true">
            <a:off x="1028695" y="1760761"/>
            <a:ext cx="16230594" cy="38509"/>
          </a:xfrm>
          <a:prstGeom prst="line">
            <a:avLst/>
          </a:prstGeom>
          <a:ln cap="flat" w="9525">
            <a:solidFill>
              <a:srgbClr val="2B2C30"/>
            </a:solidFill>
            <a:prstDash val="solid"/>
            <a:headEnd type="none" len="sm" w="sm"/>
            <a:tailEnd type="none" len="sm" w="sm"/>
          </a:ln>
        </p:spPr>
      </p:sp>
      <p:sp>
        <p:nvSpPr>
          <p:cNvPr name="Freeform 3" id="3"/>
          <p:cNvSpPr/>
          <p:nvPr/>
        </p:nvSpPr>
        <p:spPr>
          <a:xfrm flipH="false" flipV="false" rot="0">
            <a:off x="16723563" y="866530"/>
            <a:ext cx="535737" cy="727544"/>
          </a:xfrm>
          <a:custGeom>
            <a:avLst/>
            <a:gdLst/>
            <a:ahLst/>
            <a:cxnLst/>
            <a:rect r="r" b="b" t="t" l="l"/>
            <a:pathLst>
              <a:path h="727544" w="535737">
                <a:moveTo>
                  <a:pt x="0" y="0"/>
                </a:moveTo>
                <a:lnTo>
                  <a:pt x="535737" y="0"/>
                </a:lnTo>
                <a:lnTo>
                  <a:pt x="535737" y="727544"/>
                </a:lnTo>
                <a:lnTo>
                  <a:pt x="0" y="7275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8549473" y="2339905"/>
            <a:ext cx="4642880" cy="3175858"/>
            <a:chOff x="0" y="0"/>
            <a:chExt cx="1412175" cy="965967"/>
          </a:xfrm>
        </p:grpSpPr>
        <p:sp>
          <p:nvSpPr>
            <p:cNvPr name="Freeform 5" id="5"/>
            <p:cNvSpPr/>
            <p:nvPr/>
          </p:nvSpPr>
          <p:spPr>
            <a:xfrm flipH="false" flipV="false" rot="0">
              <a:off x="0" y="0"/>
              <a:ext cx="1412175" cy="965967"/>
            </a:xfrm>
            <a:custGeom>
              <a:avLst/>
              <a:gdLst/>
              <a:ahLst/>
              <a:cxnLst/>
              <a:rect r="r" b="b" t="t" l="l"/>
              <a:pathLst>
                <a:path h="965967" w="1412175">
                  <a:moveTo>
                    <a:pt x="0" y="0"/>
                  </a:moveTo>
                  <a:lnTo>
                    <a:pt x="1412175" y="0"/>
                  </a:lnTo>
                  <a:lnTo>
                    <a:pt x="1412175" y="965967"/>
                  </a:lnTo>
                  <a:lnTo>
                    <a:pt x="0" y="965967"/>
                  </a:lnTo>
                  <a:close/>
                </a:path>
              </a:pathLst>
            </a:custGeom>
            <a:solidFill>
              <a:srgbClr val="000000">
                <a:alpha val="0"/>
              </a:srgbClr>
            </a:solidFill>
            <a:ln w="9525" cap="sq">
              <a:solidFill>
                <a:srgbClr val="2B2C30"/>
              </a:solidFill>
              <a:prstDash val="solid"/>
              <a:miter/>
            </a:ln>
          </p:spPr>
        </p:sp>
        <p:sp>
          <p:nvSpPr>
            <p:cNvPr name="TextBox 6" id="6"/>
            <p:cNvSpPr txBox="true"/>
            <p:nvPr/>
          </p:nvSpPr>
          <p:spPr>
            <a:xfrm>
              <a:off x="0" y="-28575"/>
              <a:ext cx="1412175" cy="994542"/>
            </a:xfrm>
            <a:prstGeom prst="rect">
              <a:avLst/>
            </a:prstGeom>
          </p:spPr>
          <p:txBody>
            <a:bodyPr anchor="ctr" rtlCol="false" tIns="68580" lIns="68580" bIns="68580" rIns="68580"/>
            <a:lstStyle/>
            <a:p>
              <a:pPr algn="ctr">
                <a:lnSpc>
                  <a:spcPts val="1889"/>
                </a:lnSpc>
              </a:pPr>
            </a:p>
          </p:txBody>
        </p:sp>
      </p:grpSp>
      <p:sp>
        <p:nvSpPr>
          <p:cNvPr name="Freeform 7" id="7"/>
          <p:cNvSpPr/>
          <p:nvPr/>
        </p:nvSpPr>
        <p:spPr>
          <a:xfrm flipH="false" flipV="false" rot="0">
            <a:off x="8793174" y="2689942"/>
            <a:ext cx="3943327" cy="2475782"/>
          </a:xfrm>
          <a:custGeom>
            <a:avLst/>
            <a:gdLst/>
            <a:ahLst/>
            <a:cxnLst/>
            <a:rect r="r" b="b" t="t" l="l"/>
            <a:pathLst>
              <a:path h="2475782" w="3943327">
                <a:moveTo>
                  <a:pt x="0" y="0"/>
                </a:moveTo>
                <a:lnTo>
                  <a:pt x="3943327" y="0"/>
                </a:lnTo>
                <a:lnTo>
                  <a:pt x="3943327" y="2475783"/>
                </a:lnTo>
                <a:lnTo>
                  <a:pt x="0" y="2475783"/>
                </a:lnTo>
                <a:lnTo>
                  <a:pt x="0" y="0"/>
                </a:lnTo>
                <a:close/>
              </a:path>
            </a:pathLst>
          </a:custGeom>
          <a:blipFill>
            <a:blip r:embed="rId4"/>
            <a:stretch>
              <a:fillRect l="0" t="0" r="0" b="0"/>
            </a:stretch>
          </a:blipFill>
        </p:spPr>
      </p:sp>
      <p:sp>
        <p:nvSpPr>
          <p:cNvPr name="Freeform 8" id="8"/>
          <p:cNvSpPr/>
          <p:nvPr/>
        </p:nvSpPr>
        <p:spPr>
          <a:xfrm flipH="false" flipV="false" rot="0">
            <a:off x="11858433" y="6258712"/>
            <a:ext cx="5132998" cy="3415974"/>
          </a:xfrm>
          <a:custGeom>
            <a:avLst/>
            <a:gdLst/>
            <a:ahLst/>
            <a:cxnLst/>
            <a:rect r="r" b="b" t="t" l="l"/>
            <a:pathLst>
              <a:path h="3415974" w="5132998">
                <a:moveTo>
                  <a:pt x="0" y="0"/>
                </a:moveTo>
                <a:lnTo>
                  <a:pt x="5132999" y="0"/>
                </a:lnTo>
                <a:lnTo>
                  <a:pt x="5132999" y="3415974"/>
                </a:lnTo>
                <a:lnTo>
                  <a:pt x="0" y="3415974"/>
                </a:lnTo>
                <a:lnTo>
                  <a:pt x="0" y="0"/>
                </a:lnTo>
                <a:close/>
              </a:path>
            </a:pathLst>
          </a:custGeom>
          <a:blipFill>
            <a:blip r:embed="rId5"/>
            <a:stretch>
              <a:fillRect l="0" t="0" r="0" b="0"/>
            </a:stretch>
          </a:blipFill>
        </p:spPr>
      </p:sp>
      <p:sp>
        <p:nvSpPr>
          <p:cNvPr name="TextBox 9" id="9"/>
          <p:cNvSpPr txBox="true"/>
          <p:nvPr/>
        </p:nvSpPr>
        <p:spPr>
          <a:xfrm rot="0">
            <a:off x="1006871"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OUTLINE FOR PRESENTATION</a:t>
            </a:r>
          </a:p>
        </p:txBody>
      </p:sp>
      <p:sp>
        <p:nvSpPr>
          <p:cNvPr name="TextBox 10" id="10"/>
          <p:cNvSpPr txBox="true"/>
          <p:nvPr/>
        </p:nvSpPr>
        <p:spPr>
          <a:xfrm rot="0">
            <a:off x="1660260" y="2289436"/>
            <a:ext cx="6068968" cy="5210048"/>
          </a:xfrm>
          <a:prstGeom prst="rect">
            <a:avLst/>
          </a:prstGeom>
        </p:spPr>
        <p:txBody>
          <a:bodyPr anchor="t" rtlCol="false" tIns="0" lIns="0" bIns="0" rIns="0">
            <a:spAutoFit/>
          </a:bodyPr>
          <a:lstStyle/>
          <a:p>
            <a:pPr algn="l" marL="604519" indent="-302260" lvl="1">
              <a:lnSpc>
                <a:spcPts val="5235"/>
              </a:lnSpc>
              <a:buFont typeface="Arial"/>
              <a:buChar char="•"/>
            </a:pPr>
            <a:r>
              <a:rPr lang="en-US" sz="2799">
                <a:solidFill>
                  <a:srgbClr val="2B2C30"/>
                </a:solidFill>
                <a:latin typeface="Public Sans"/>
                <a:ea typeface="Public Sans"/>
                <a:cs typeface="Public Sans"/>
                <a:sym typeface="Public Sans"/>
              </a:rPr>
              <a:t>Problem Statement</a:t>
            </a:r>
          </a:p>
          <a:p>
            <a:pPr algn="l" marL="604519" indent="-302260" lvl="1">
              <a:lnSpc>
                <a:spcPts val="5235"/>
              </a:lnSpc>
              <a:buFont typeface="Arial"/>
              <a:buChar char="•"/>
            </a:pPr>
            <a:r>
              <a:rPr lang="en-US" sz="2799">
                <a:solidFill>
                  <a:srgbClr val="2B2C30"/>
                </a:solidFill>
                <a:latin typeface="Public Sans"/>
                <a:ea typeface="Public Sans"/>
                <a:cs typeface="Public Sans"/>
                <a:sym typeface="Public Sans"/>
              </a:rPr>
              <a:t>Technology used</a:t>
            </a:r>
          </a:p>
          <a:p>
            <a:pPr algn="l" marL="604519" indent="-302260" lvl="1">
              <a:lnSpc>
                <a:spcPts val="5235"/>
              </a:lnSpc>
              <a:buFont typeface="Arial"/>
              <a:buChar char="•"/>
            </a:pPr>
            <a:r>
              <a:rPr lang="en-US" sz="2799">
                <a:solidFill>
                  <a:srgbClr val="2B2C30"/>
                </a:solidFill>
                <a:latin typeface="Public Sans"/>
                <a:ea typeface="Public Sans"/>
                <a:cs typeface="Public Sans"/>
                <a:sym typeface="Public Sans"/>
              </a:rPr>
              <a:t>Wow factor</a:t>
            </a:r>
          </a:p>
          <a:p>
            <a:pPr algn="l" marL="604519" indent="-302260" lvl="1">
              <a:lnSpc>
                <a:spcPts val="5235"/>
              </a:lnSpc>
              <a:buFont typeface="Arial"/>
              <a:buChar char="•"/>
            </a:pPr>
            <a:r>
              <a:rPr lang="en-US" sz="2799">
                <a:solidFill>
                  <a:srgbClr val="2B2C30"/>
                </a:solidFill>
                <a:latin typeface="Public Sans"/>
                <a:ea typeface="Public Sans"/>
                <a:cs typeface="Public Sans"/>
                <a:sym typeface="Public Sans"/>
              </a:rPr>
              <a:t>End users</a:t>
            </a:r>
          </a:p>
          <a:p>
            <a:pPr algn="l" marL="604519" indent="-302260" lvl="1">
              <a:lnSpc>
                <a:spcPts val="5235"/>
              </a:lnSpc>
              <a:buFont typeface="Arial"/>
              <a:buChar char="•"/>
            </a:pPr>
            <a:r>
              <a:rPr lang="en-US" sz="2799">
                <a:solidFill>
                  <a:srgbClr val="2B2C30"/>
                </a:solidFill>
                <a:latin typeface="Public Sans"/>
                <a:ea typeface="Public Sans"/>
                <a:cs typeface="Public Sans"/>
                <a:sym typeface="Public Sans"/>
              </a:rPr>
              <a:t>Result</a:t>
            </a:r>
          </a:p>
          <a:p>
            <a:pPr algn="l" marL="604519" indent="-302260" lvl="1">
              <a:lnSpc>
                <a:spcPts val="5235"/>
              </a:lnSpc>
              <a:buFont typeface="Arial"/>
              <a:buChar char="•"/>
            </a:pPr>
            <a:r>
              <a:rPr lang="en-US" sz="2799">
                <a:solidFill>
                  <a:srgbClr val="2B2C30"/>
                </a:solidFill>
                <a:latin typeface="Public Sans"/>
                <a:ea typeface="Public Sans"/>
                <a:cs typeface="Public Sans"/>
                <a:sym typeface="Public Sans"/>
              </a:rPr>
              <a:t>Conclusion</a:t>
            </a:r>
          </a:p>
          <a:p>
            <a:pPr algn="l" marL="604519" indent="-302260" lvl="1">
              <a:lnSpc>
                <a:spcPts val="5235"/>
              </a:lnSpc>
              <a:buFont typeface="Arial"/>
              <a:buChar char="•"/>
            </a:pPr>
            <a:r>
              <a:rPr lang="en-US" sz="2799">
                <a:solidFill>
                  <a:srgbClr val="2B2C30"/>
                </a:solidFill>
                <a:latin typeface="Public Sans"/>
                <a:ea typeface="Public Sans"/>
                <a:cs typeface="Public Sans"/>
                <a:sym typeface="Public Sans"/>
              </a:rPr>
              <a:t>GitHub Link</a:t>
            </a:r>
          </a:p>
          <a:p>
            <a:pPr algn="l" marL="604519" indent="-302260" lvl="1">
              <a:lnSpc>
                <a:spcPts val="5235"/>
              </a:lnSpc>
              <a:buFont typeface="Arial"/>
              <a:buChar char="•"/>
            </a:pPr>
            <a:r>
              <a:rPr lang="en-US" sz="2799">
                <a:solidFill>
                  <a:srgbClr val="2B2C30"/>
                </a:solidFill>
                <a:latin typeface="Public Sans"/>
                <a:ea typeface="Public Sans"/>
                <a:cs typeface="Public Sans"/>
                <a:sym typeface="Public Sans"/>
              </a:rPr>
              <a:t>Future Scope</a:t>
            </a:r>
          </a:p>
        </p:txBody>
      </p:sp>
      <p:grpSp>
        <p:nvGrpSpPr>
          <p:cNvPr name="Group 11" id="11"/>
          <p:cNvGrpSpPr/>
          <p:nvPr/>
        </p:nvGrpSpPr>
        <p:grpSpPr>
          <a:xfrm rot="0">
            <a:off x="11619330" y="5941590"/>
            <a:ext cx="5639970" cy="4026783"/>
            <a:chOff x="0" y="0"/>
            <a:chExt cx="1715449" cy="1224783"/>
          </a:xfrm>
        </p:grpSpPr>
        <p:sp>
          <p:nvSpPr>
            <p:cNvPr name="Freeform 12" id="12"/>
            <p:cNvSpPr/>
            <p:nvPr/>
          </p:nvSpPr>
          <p:spPr>
            <a:xfrm flipH="false" flipV="false" rot="0">
              <a:off x="0" y="0"/>
              <a:ext cx="1715449" cy="1224783"/>
            </a:xfrm>
            <a:custGeom>
              <a:avLst/>
              <a:gdLst/>
              <a:ahLst/>
              <a:cxnLst/>
              <a:rect r="r" b="b" t="t" l="l"/>
              <a:pathLst>
                <a:path h="1224783" w="1715449">
                  <a:moveTo>
                    <a:pt x="0" y="0"/>
                  </a:moveTo>
                  <a:lnTo>
                    <a:pt x="1715449" y="0"/>
                  </a:lnTo>
                  <a:lnTo>
                    <a:pt x="1715449" y="1224783"/>
                  </a:lnTo>
                  <a:lnTo>
                    <a:pt x="0" y="1224783"/>
                  </a:lnTo>
                  <a:close/>
                </a:path>
              </a:pathLst>
            </a:custGeom>
            <a:solidFill>
              <a:srgbClr val="000000">
                <a:alpha val="0"/>
              </a:srgbClr>
            </a:solidFill>
            <a:ln w="9525" cap="sq">
              <a:solidFill>
                <a:srgbClr val="2B2C30"/>
              </a:solidFill>
              <a:prstDash val="solid"/>
              <a:miter/>
            </a:ln>
          </p:spPr>
        </p:sp>
        <p:sp>
          <p:nvSpPr>
            <p:cNvPr name="TextBox 13" id="13"/>
            <p:cNvSpPr txBox="true"/>
            <p:nvPr/>
          </p:nvSpPr>
          <p:spPr>
            <a:xfrm>
              <a:off x="0" y="-28575"/>
              <a:ext cx="1715449" cy="1253358"/>
            </a:xfrm>
            <a:prstGeom prst="rect">
              <a:avLst/>
            </a:prstGeom>
          </p:spPr>
          <p:txBody>
            <a:bodyPr anchor="ctr" rtlCol="false" tIns="68580" lIns="68580" bIns="68580" rIns="68580"/>
            <a:lstStyle/>
            <a:p>
              <a:pPr algn="ctr">
                <a:lnSpc>
                  <a:spcPts val="1889"/>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1006871"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PROBLEM STATEMENT</a:t>
            </a:r>
          </a:p>
        </p:txBody>
      </p:sp>
      <p:sp>
        <p:nvSpPr>
          <p:cNvPr name="AutoShape 3" id="3"/>
          <p:cNvSpPr/>
          <p:nvPr/>
        </p:nvSpPr>
        <p:spPr>
          <a:xfrm flipV="true">
            <a:off x="1028695" y="1760761"/>
            <a:ext cx="16230594" cy="38509"/>
          </a:xfrm>
          <a:prstGeom prst="line">
            <a:avLst/>
          </a:prstGeom>
          <a:ln cap="flat" w="9525">
            <a:solidFill>
              <a:srgbClr val="2B2C30"/>
            </a:solidFill>
            <a:prstDash val="solid"/>
            <a:headEnd type="none" len="sm" w="sm"/>
            <a:tailEnd type="none" len="sm" w="sm"/>
          </a:ln>
        </p:spPr>
      </p:sp>
      <p:sp>
        <p:nvSpPr>
          <p:cNvPr name="TextBox 4" id="4"/>
          <p:cNvSpPr txBox="true"/>
          <p:nvPr/>
        </p:nvSpPr>
        <p:spPr>
          <a:xfrm rot="0">
            <a:off x="710385" y="1570261"/>
            <a:ext cx="15793824" cy="7181723"/>
          </a:xfrm>
          <a:prstGeom prst="rect">
            <a:avLst/>
          </a:prstGeom>
        </p:spPr>
        <p:txBody>
          <a:bodyPr anchor="t" rtlCol="false" tIns="0" lIns="0" bIns="0" rIns="0">
            <a:spAutoFit/>
          </a:bodyPr>
          <a:lstStyle/>
          <a:p>
            <a:pPr algn="l">
              <a:lnSpc>
                <a:spcPts val="5235"/>
              </a:lnSpc>
            </a:pPr>
          </a:p>
          <a:p>
            <a:pPr algn="l" marL="604519" indent="-302260" lvl="1">
              <a:lnSpc>
                <a:spcPts val="5235"/>
              </a:lnSpc>
              <a:buFont typeface="Arial"/>
              <a:buChar char="•"/>
            </a:pPr>
            <a:r>
              <a:rPr lang="en-US" sz="2799">
                <a:solidFill>
                  <a:srgbClr val="2B2C30"/>
                </a:solidFill>
                <a:latin typeface="Public Sans"/>
                <a:ea typeface="Public Sans"/>
                <a:cs typeface="Public Sans"/>
                <a:sym typeface="Public Sans"/>
              </a:rPr>
              <a:t> With the rise of digital communication, ensuring the confidentiality of sensitive information has become a critical challenge. Traditional encryption methods are often detectable, making them vulnerable to attacks. </a:t>
            </a:r>
          </a:p>
          <a:p>
            <a:pPr algn="l" marL="604519" indent="-302260" lvl="1">
              <a:lnSpc>
                <a:spcPts val="5235"/>
              </a:lnSpc>
              <a:buFont typeface="Arial"/>
              <a:buChar char="•"/>
            </a:pPr>
            <a:r>
              <a:rPr lang="en-US" sz="2799">
                <a:solidFill>
                  <a:srgbClr val="2B2C30"/>
                </a:solidFill>
                <a:latin typeface="Public Sans"/>
                <a:ea typeface="Public Sans"/>
                <a:cs typeface="Public Sans"/>
                <a:sym typeface="Public Sans"/>
              </a:rPr>
              <a:t>This project aims to develop a Python-based Image Steganography application that securely hides secret messages within image files using the Least Significant Bit (LSB) technique.</a:t>
            </a:r>
          </a:p>
          <a:p>
            <a:pPr algn="l" marL="604519" indent="-302260" lvl="1">
              <a:lnSpc>
                <a:spcPts val="5235"/>
              </a:lnSpc>
              <a:buFont typeface="Arial"/>
              <a:buChar char="•"/>
            </a:pPr>
            <a:r>
              <a:rPr lang="en-US" sz="2799">
                <a:solidFill>
                  <a:srgbClr val="2B2C30"/>
                </a:solidFill>
                <a:latin typeface="Public Sans"/>
                <a:ea typeface="Public Sans"/>
                <a:cs typeface="Public Sans"/>
                <a:sym typeface="Public Sans"/>
              </a:rPr>
              <a:t>The application provides a user-friendly GUI using Tkinter, allowing users to encrypt and decrypt messages seamlessly while maintaining the image's visual integrity.</a:t>
            </a:r>
          </a:p>
          <a:p>
            <a:pPr algn="l">
              <a:lnSpc>
                <a:spcPts val="5235"/>
              </a:lnSpc>
            </a:pPr>
          </a:p>
          <a:p>
            <a:pPr algn="l">
              <a:lnSpc>
                <a:spcPts val="5235"/>
              </a:lnSpc>
            </a:pPr>
          </a:p>
        </p:txBody>
      </p:sp>
      <p:sp>
        <p:nvSpPr>
          <p:cNvPr name="Freeform 5" id="5"/>
          <p:cNvSpPr/>
          <p:nvPr/>
        </p:nvSpPr>
        <p:spPr>
          <a:xfrm flipH="false" flipV="false" rot="0">
            <a:off x="16701746" y="8616481"/>
            <a:ext cx="535737" cy="727544"/>
          </a:xfrm>
          <a:custGeom>
            <a:avLst/>
            <a:gdLst/>
            <a:ahLst/>
            <a:cxnLst/>
            <a:rect r="r" b="b" t="t" l="l"/>
            <a:pathLst>
              <a:path h="727544" w="535737">
                <a:moveTo>
                  <a:pt x="0" y="0"/>
                </a:moveTo>
                <a:lnTo>
                  <a:pt x="535736" y="0"/>
                </a:lnTo>
                <a:lnTo>
                  <a:pt x="535736" y="727544"/>
                </a:lnTo>
                <a:lnTo>
                  <a:pt x="0" y="7275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1028700" y="1055360"/>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TECHNOLOGY USED</a:t>
            </a:r>
          </a:p>
        </p:txBody>
      </p:sp>
      <p:sp>
        <p:nvSpPr>
          <p:cNvPr name="AutoShape 3" id="3"/>
          <p:cNvSpPr/>
          <p:nvPr/>
        </p:nvSpPr>
        <p:spPr>
          <a:xfrm flipV="true">
            <a:off x="1028684" y="1840735"/>
            <a:ext cx="12740628" cy="19254"/>
          </a:xfrm>
          <a:prstGeom prst="line">
            <a:avLst/>
          </a:prstGeom>
          <a:ln cap="flat" w="9525">
            <a:solidFill>
              <a:srgbClr val="2B2C30"/>
            </a:solidFill>
            <a:prstDash val="solid"/>
            <a:headEnd type="none" len="sm" w="sm"/>
            <a:tailEnd type="none" len="sm" w="sm"/>
          </a:ln>
        </p:spPr>
      </p:sp>
      <p:sp>
        <p:nvSpPr>
          <p:cNvPr name="TextBox 4" id="4"/>
          <p:cNvSpPr txBox="true"/>
          <p:nvPr/>
        </p:nvSpPr>
        <p:spPr>
          <a:xfrm rot="0">
            <a:off x="643175" y="1678810"/>
            <a:ext cx="16326439" cy="8352441"/>
          </a:xfrm>
          <a:prstGeom prst="rect">
            <a:avLst/>
          </a:prstGeom>
        </p:spPr>
        <p:txBody>
          <a:bodyPr anchor="t" rtlCol="false" tIns="0" lIns="0" bIns="0" rIns="0">
            <a:spAutoFit/>
          </a:bodyPr>
          <a:lstStyle/>
          <a:p>
            <a:pPr algn="l">
              <a:lnSpc>
                <a:spcPts val="4457"/>
              </a:lnSpc>
            </a:pPr>
          </a:p>
          <a:p>
            <a:pPr algn="l" marL="514684" indent="-257342" lvl="1">
              <a:lnSpc>
                <a:spcPts val="4457"/>
              </a:lnSpc>
              <a:buFont typeface="Arial"/>
              <a:buChar char="•"/>
            </a:pPr>
            <a:r>
              <a:rPr lang="en-US" b="true" sz="2383" u="sng">
                <a:solidFill>
                  <a:srgbClr val="2B2C30"/>
                </a:solidFill>
                <a:latin typeface="Public Sans Bold"/>
                <a:ea typeface="Public Sans Bold"/>
                <a:cs typeface="Public Sans Bold"/>
                <a:sym typeface="Public Sans Bold"/>
              </a:rPr>
              <a:t>Programming Language:</a:t>
            </a:r>
            <a:r>
              <a:rPr lang="en-US" sz="2383">
                <a:solidFill>
                  <a:srgbClr val="2B2C30"/>
                </a:solidFill>
                <a:latin typeface="Public Sans"/>
                <a:ea typeface="Public Sans"/>
                <a:cs typeface="Public Sans"/>
                <a:sym typeface="Public Sans"/>
              </a:rPr>
              <a:t> Python – The entire project is implemented using Python.</a:t>
            </a:r>
          </a:p>
          <a:p>
            <a:pPr algn="l">
              <a:lnSpc>
                <a:spcPts val="4457"/>
              </a:lnSpc>
            </a:pPr>
          </a:p>
          <a:p>
            <a:pPr algn="l" marL="514684" indent="-257342" lvl="1">
              <a:lnSpc>
                <a:spcPts val="4457"/>
              </a:lnSpc>
              <a:buFont typeface="Arial"/>
              <a:buChar char="•"/>
            </a:pPr>
            <a:r>
              <a:rPr lang="en-US" b="true" sz="2383" u="sng">
                <a:solidFill>
                  <a:srgbClr val="2B2C30"/>
                </a:solidFill>
                <a:latin typeface="Public Sans Bold"/>
                <a:ea typeface="Public Sans Bold"/>
                <a:cs typeface="Public Sans Bold"/>
                <a:sym typeface="Public Sans Bold"/>
              </a:rPr>
              <a:t>Graphical User Interface (GUI):</a:t>
            </a:r>
            <a:r>
              <a:rPr lang="en-US" sz="2383">
                <a:solidFill>
                  <a:srgbClr val="2B2C30"/>
                </a:solidFill>
                <a:latin typeface="Public Sans"/>
                <a:ea typeface="Public Sans"/>
                <a:cs typeface="Public Sans"/>
                <a:sym typeface="Public Sans"/>
              </a:rPr>
              <a:t> Tkinter – Used to create the user-friendly interface for selecting images, entering text, and performing encryption/decryption operations.</a:t>
            </a:r>
          </a:p>
          <a:p>
            <a:pPr algn="l">
              <a:lnSpc>
                <a:spcPts val="4457"/>
              </a:lnSpc>
            </a:pPr>
          </a:p>
          <a:p>
            <a:pPr algn="l" marL="514684" indent="-257342" lvl="1">
              <a:lnSpc>
                <a:spcPts val="4457"/>
              </a:lnSpc>
              <a:buFont typeface="Arial"/>
              <a:buChar char="•"/>
            </a:pPr>
            <a:r>
              <a:rPr lang="en-US" b="true" sz="2383" u="sng">
                <a:solidFill>
                  <a:srgbClr val="2B2C30"/>
                </a:solidFill>
                <a:latin typeface="Public Sans Bold"/>
                <a:ea typeface="Public Sans Bold"/>
                <a:cs typeface="Public Sans Bold"/>
                <a:sym typeface="Public Sans Bold"/>
              </a:rPr>
              <a:t>Image Processing:</a:t>
            </a:r>
            <a:r>
              <a:rPr lang="en-US" sz="2383">
                <a:solidFill>
                  <a:srgbClr val="2B2C30"/>
                </a:solidFill>
                <a:latin typeface="Public Sans"/>
                <a:ea typeface="Public Sans"/>
                <a:cs typeface="Public Sans"/>
                <a:sym typeface="Public Sans"/>
              </a:rPr>
              <a:t> Pillow (PIL) – Used for loading and displaying images in the GUI.</a:t>
            </a:r>
          </a:p>
          <a:p>
            <a:pPr algn="l">
              <a:lnSpc>
                <a:spcPts val="4457"/>
              </a:lnSpc>
            </a:pPr>
          </a:p>
          <a:p>
            <a:pPr algn="l" marL="514684" indent="-257342" lvl="1">
              <a:lnSpc>
                <a:spcPts val="4457"/>
              </a:lnSpc>
              <a:buFont typeface="Arial"/>
              <a:buChar char="•"/>
            </a:pPr>
            <a:r>
              <a:rPr lang="en-US" b="true" sz="2383" u="sng">
                <a:solidFill>
                  <a:srgbClr val="2B2C30"/>
                </a:solidFill>
                <a:latin typeface="Public Sans Bold"/>
                <a:ea typeface="Public Sans Bold"/>
                <a:cs typeface="Public Sans Bold"/>
                <a:sym typeface="Public Sans Bold"/>
              </a:rPr>
              <a:t>Steganography Library:</a:t>
            </a:r>
            <a:r>
              <a:rPr lang="en-US" sz="2383">
                <a:solidFill>
                  <a:srgbClr val="2B2C30"/>
                </a:solidFill>
                <a:latin typeface="Public Sans"/>
                <a:ea typeface="Public Sans"/>
                <a:cs typeface="Public Sans"/>
                <a:sym typeface="Public Sans"/>
              </a:rPr>
              <a:t> stegano (LSB - Least Significant Bit Method) – Used to hide and retrieve secret messages in images without significantly altering their visual appearance.</a:t>
            </a:r>
          </a:p>
          <a:p>
            <a:pPr algn="l">
              <a:lnSpc>
                <a:spcPts val="4457"/>
              </a:lnSpc>
            </a:pPr>
          </a:p>
          <a:p>
            <a:pPr algn="l" marL="514684" indent="-257342" lvl="1">
              <a:lnSpc>
                <a:spcPts val="4457"/>
              </a:lnSpc>
              <a:buFont typeface="Arial"/>
              <a:buChar char="•"/>
            </a:pPr>
            <a:r>
              <a:rPr lang="en-US" b="true" sz="2383" u="sng">
                <a:solidFill>
                  <a:srgbClr val="2B2C30"/>
                </a:solidFill>
                <a:latin typeface="Public Sans Bold"/>
                <a:ea typeface="Public Sans Bold"/>
                <a:cs typeface="Public Sans Bold"/>
                <a:sym typeface="Public Sans Bold"/>
              </a:rPr>
              <a:t>File Handling &amp; System Operations:</a:t>
            </a:r>
            <a:r>
              <a:rPr lang="en-US" sz="2383">
                <a:solidFill>
                  <a:srgbClr val="2B2C30"/>
                </a:solidFill>
                <a:latin typeface="Public Sans"/>
                <a:ea typeface="Public Sans"/>
                <a:cs typeface="Public Sans"/>
                <a:sym typeface="Public Sans"/>
              </a:rPr>
              <a:t> os &amp; filedialog – Used for browsing and selecting image files from the system.</a:t>
            </a:r>
          </a:p>
          <a:p>
            <a:pPr algn="l">
              <a:lnSpc>
                <a:spcPts val="4457"/>
              </a:lnSpc>
            </a:pPr>
          </a:p>
          <a:p>
            <a:pPr algn="l">
              <a:lnSpc>
                <a:spcPts val="4457"/>
              </a:lnSpc>
            </a:pPr>
          </a:p>
        </p:txBody>
      </p:sp>
      <p:sp>
        <p:nvSpPr>
          <p:cNvPr name="Freeform 5" id="5"/>
          <p:cNvSpPr/>
          <p:nvPr/>
        </p:nvSpPr>
        <p:spPr>
          <a:xfrm flipH="false" flipV="false" rot="0">
            <a:off x="17552671" y="8768432"/>
            <a:ext cx="535737" cy="727544"/>
          </a:xfrm>
          <a:custGeom>
            <a:avLst/>
            <a:gdLst/>
            <a:ahLst/>
            <a:cxnLst/>
            <a:rect r="r" b="b" t="t" l="l"/>
            <a:pathLst>
              <a:path h="727544" w="535737">
                <a:moveTo>
                  <a:pt x="0" y="0"/>
                </a:moveTo>
                <a:lnTo>
                  <a:pt x="535736" y="0"/>
                </a:lnTo>
                <a:lnTo>
                  <a:pt x="535736" y="727544"/>
                </a:lnTo>
                <a:lnTo>
                  <a:pt x="0" y="7275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4321881" y="466253"/>
            <a:ext cx="2820522" cy="2152022"/>
          </a:xfrm>
          <a:custGeom>
            <a:avLst/>
            <a:gdLst/>
            <a:ahLst/>
            <a:cxnLst/>
            <a:rect r="r" b="b" t="t" l="l"/>
            <a:pathLst>
              <a:path h="2152022" w="2820522">
                <a:moveTo>
                  <a:pt x="0" y="0"/>
                </a:moveTo>
                <a:lnTo>
                  <a:pt x="2820522" y="0"/>
                </a:lnTo>
                <a:lnTo>
                  <a:pt x="2820522" y="2152022"/>
                </a:lnTo>
                <a:lnTo>
                  <a:pt x="0" y="2152022"/>
                </a:lnTo>
                <a:lnTo>
                  <a:pt x="0" y="0"/>
                </a:lnTo>
                <a:close/>
              </a:path>
            </a:pathLst>
          </a:custGeom>
          <a:blipFill>
            <a:blip r:embed="rId4"/>
            <a:stretch>
              <a:fillRect l="-40613"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Freeform 2" id="2"/>
          <p:cNvSpPr/>
          <p:nvPr/>
        </p:nvSpPr>
        <p:spPr>
          <a:xfrm flipH="false" flipV="false" rot="0">
            <a:off x="16701746" y="8616481"/>
            <a:ext cx="535737" cy="727544"/>
          </a:xfrm>
          <a:custGeom>
            <a:avLst/>
            <a:gdLst/>
            <a:ahLst/>
            <a:cxnLst/>
            <a:rect r="r" b="b" t="t" l="l"/>
            <a:pathLst>
              <a:path h="727544" w="535737">
                <a:moveTo>
                  <a:pt x="0" y="0"/>
                </a:moveTo>
                <a:lnTo>
                  <a:pt x="535736" y="0"/>
                </a:lnTo>
                <a:lnTo>
                  <a:pt x="535736" y="727544"/>
                </a:lnTo>
                <a:lnTo>
                  <a:pt x="0" y="7275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flipV="true">
            <a:off x="831376" y="1545987"/>
            <a:ext cx="16230594" cy="38509"/>
          </a:xfrm>
          <a:prstGeom prst="line">
            <a:avLst/>
          </a:prstGeom>
          <a:ln cap="flat" w="9525">
            <a:solidFill>
              <a:srgbClr val="2B2C30"/>
            </a:solidFill>
            <a:prstDash val="solid"/>
            <a:headEnd type="none" len="sm" w="sm"/>
            <a:tailEnd type="none" len="sm" w="sm"/>
          </a:ln>
        </p:spPr>
      </p:sp>
      <p:grpSp>
        <p:nvGrpSpPr>
          <p:cNvPr name="Group 4" id="4"/>
          <p:cNvGrpSpPr/>
          <p:nvPr/>
        </p:nvGrpSpPr>
        <p:grpSpPr>
          <a:xfrm rot="0">
            <a:off x="1128320" y="2313158"/>
            <a:ext cx="3783488" cy="2269305"/>
            <a:chOff x="0" y="0"/>
            <a:chExt cx="5044650" cy="3025740"/>
          </a:xfrm>
        </p:grpSpPr>
        <p:pic>
          <p:nvPicPr>
            <p:cNvPr name="Picture 5" id="5"/>
            <p:cNvPicPr>
              <a:picLocks noChangeAspect="true"/>
            </p:cNvPicPr>
            <p:nvPr/>
          </p:nvPicPr>
          <p:blipFill>
            <a:blip r:embed="rId4"/>
            <a:srcRect l="0" t="7273" r="0" b="4211"/>
            <a:stretch>
              <a:fillRect/>
            </a:stretch>
          </p:blipFill>
          <p:spPr>
            <a:xfrm flipH="false" flipV="false">
              <a:off x="0" y="0"/>
              <a:ext cx="5044650" cy="3025740"/>
            </a:xfrm>
            <a:prstGeom prst="rect">
              <a:avLst/>
            </a:prstGeom>
          </p:spPr>
        </p:pic>
      </p:grpSp>
      <p:grpSp>
        <p:nvGrpSpPr>
          <p:cNvPr name="Group 6" id="6"/>
          <p:cNvGrpSpPr/>
          <p:nvPr/>
        </p:nvGrpSpPr>
        <p:grpSpPr>
          <a:xfrm rot="0">
            <a:off x="5334253" y="2313158"/>
            <a:ext cx="3783488" cy="2269305"/>
            <a:chOff x="0" y="0"/>
            <a:chExt cx="5044650" cy="3025740"/>
          </a:xfrm>
        </p:grpSpPr>
        <p:pic>
          <p:nvPicPr>
            <p:cNvPr name="Picture 7" id="7"/>
            <p:cNvPicPr>
              <a:picLocks noChangeAspect="true"/>
            </p:cNvPicPr>
            <p:nvPr/>
          </p:nvPicPr>
          <p:blipFill>
            <a:blip r:embed="rId5"/>
            <a:srcRect l="1325" t="0" r="1325" b="0"/>
            <a:stretch>
              <a:fillRect/>
            </a:stretch>
          </p:blipFill>
          <p:spPr>
            <a:xfrm flipH="false" flipV="false">
              <a:off x="0" y="0"/>
              <a:ext cx="5044650" cy="3025740"/>
            </a:xfrm>
            <a:prstGeom prst="rect">
              <a:avLst/>
            </a:prstGeom>
          </p:spPr>
        </p:pic>
      </p:grpSp>
      <p:grpSp>
        <p:nvGrpSpPr>
          <p:cNvPr name="Group 8" id="8"/>
          <p:cNvGrpSpPr/>
          <p:nvPr/>
        </p:nvGrpSpPr>
        <p:grpSpPr>
          <a:xfrm rot="0">
            <a:off x="9403491" y="2313158"/>
            <a:ext cx="3783488" cy="2269305"/>
            <a:chOff x="0" y="0"/>
            <a:chExt cx="5044650" cy="3025740"/>
          </a:xfrm>
        </p:grpSpPr>
        <p:pic>
          <p:nvPicPr>
            <p:cNvPr name="Picture 9" id="9"/>
            <p:cNvPicPr>
              <a:picLocks noChangeAspect="true"/>
            </p:cNvPicPr>
            <p:nvPr/>
          </p:nvPicPr>
          <p:blipFill>
            <a:blip r:embed="rId6"/>
            <a:srcRect l="0" t="1720" r="0" b="1720"/>
            <a:stretch>
              <a:fillRect/>
            </a:stretch>
          </p:blipFill>
          <p:spPr>
            <a:xfrm flipH="false" flipV="false">
              <a:off x="0" y="0"/>
              <a:ext cx="5044650" cy="3025740"/>
            </a:xfrm>
            <a:prstGeom prst="rect">
              <a:avLst/>
            </a:prstGeom>
          </p:spPr>
        </p:pic>
      </p:grpSp>
      <p:grpSp>
        <p:nvGrpSpPr>
          <p:cNvPr name="Group 10" id="10"/>
          <p:cNvGrpSpPr/>
          <p:nvPr/>
        </p:nvGrpSpPr>
        <p:grpSpPr>
          <a:xfrm rot="0">
            <a:off x="13468288" y="2313158"/>
            <a:ext cx="3783488" cy="2269305"/>
            <a:chOff x="0" y="0"/>
            <a:chExt cx="5044650" cy="3025740"/>
          </a:xfrm>
        </p:grpSpPr>
        <p:pic>
          <p:nvPicPr>
            <p:cNvPr name="Picture 11" id="11"/>
            <p:cNvPicPr>
              <a:picLocks noChangeAspect="true"/>
            </p:cNvPicPr>
            <p:nvPr/>
          </p:nvPicPr>
          <p:blipFill>
            <a:blip r:embed="rId7"/>
            <a:srcRect l="1750" t="0" r="1750" b="0"/>
            <a:stretch>
              <a:fillRect/>
            </a:stretch>
          </p:blipFill>
          <p:spPr>
            <a:xfrm flipH="false" flipV="false">
              <a:off x="0" y="0"/>
              <a:ext cx="5044650" cy="3025740"/>
            </a:xfrm>
            <a:prstGeom prst="rect">
              <a:avLst/>
            </a:prstGeom>
          </p:spPr>
        </p:pic>
      </p:grpSp>
      <p:sp>
        <p:nvSpPr>
          <p:cNvPr name="TextBox 12" id="12"/>
          <p:cNvSpPr txBox="true"/>
          <p:nvPr/>
        </p:nvSpPr>
        <p:spPr>
          <a:xfrm rot="0">
            <a:off x="1006882" y="744828"/>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WOW FACTORS</a:t>
            </a:r>
          </a:p>
        </p:txBody>
      </p:sp>
      <p:grpSp>
        <p:nvGrpSpPr>
          <p:cNvPr name="Group 13" id="13"/>
          <p:cNvGrpSpPr/>
          <p:nvPr/>
        </p:nvGrpSpPr>
        <p:grpSpPr>
          <a:xfrm rot="0">
            <a:off x="1128320" y="5030256"/>
            <a:ext cx="3773952" cy="3235960"/>
            <a:chOff x="0" y="0"/>
            <a:chExt cx="5031935" cy="4314614"/>
          </a:xfrm>
        </p:grpSpPr>
        <p:sp>
          <p:nvSpPr>
            <p:cNvPr name="TextBox 14" id="14"/>
            <p:cNvSpPr txBox="true"/>
            <p:nvPr/>
          </p:nvSpPr>
          <p:spPr>
            <a:xfrm rot="0">
              <a:off x="0" y="-66675"/>
              <a:ext cx="5031935" cy="1292649"/>
            </a:xfrm>
            <a:prstGeom prst="rect">
              <a:avLst/>
            </a:prstGeom>
          </p:spPr>
          <p:txBody>
            <a:bodyPr anchor="t" rtlCol="false" tIns="0" lIns="0" bIns="0" rIns="0">
              <a:spAutoFit/>
            </a:bodyPr>
            <a:lstStyle/>
            <a:p>
              <a:pPr algn="l">
                <a:lnSpc>
                  <a:spcPts val="3919"/>
                </a:lnSpc>
              </a:pPr>
              <a:r>
                <a:rPr lang="en-US" sz="2799" b="true">
                  <a:solidFill>
                    <a:srgbClr val="2B2C30"/>
                  </a:solidFill>
                  <a:latin typeface="Public Sans Bold"/>
                  <a:ea typeface="Public Sans Bold"/>
                  <a:cs typeface="Public Sans Bold"/>
                  <a:sym typeface="Public Sans Bold"/>
                </a:rPr>
                <a:t>🎨 User-Friendly Graphical Interface </a:t>
              </a:r>
            </a:p>
          </p:txBody>
        </p:sp>
        <p:sp>
          <p:nvSpPr>
            <p:cNvPr name="TextBox 15" id="15"/>
            <p:cNvSpPr txBox="true"/>
            <p:nvPr/>
          </p:nvSpPr>
          <p:spPr>
            <a:xfrm rot="0">
              <a:off x="0" y="1403774"/>
              <a:ext cx="5031935" cy="2910840"/>
            </a:xfrm>
            <a:prstGeom prst="rect">
              <a:avLst/>
            </a:prstGeom>
          </p:spPr>
          <p:txBody>
            <a:bodyPr anchor="t" rtlCol="false" tIns="0" lIns="0" bIns="0" rIns="0">
              <a:spAutoFit/>
            </a:bodyPr>
            <a:lstStyle/>
            <a:p>
              <a:pPr algn="l">
                <a:lnSpc>
                  <a:spcPts val="2520"/>
                </a:lnSpc>
              </a:pPr>
              <a:r>
                <a:rPr lang="en-US" sz="1800">
                  <a:solidFill>
                    <a:srgbClr val="2B2C30"/>
                  </a:solidFill>
                  <a:latin typeface="Public Sans"/>
                  <a:ea typeface="Public Sans"/>
                  <a:cs typeface="Public Sans"/>
                  <a:sym typeface="Public Sans"/>
                </a:rPr>
                <a:t>Unlike command-line steganography tools, this project provides a Tkinter-based GUI, making it easy for users to select images, encrypt messages, and decrypt hidden data with simple button clicks.</a:t>
              </a:r>
            </a:p>
          </p:txBody>
        </p:sp>
      </p:grpSp>
      <p:grpSp>
        <p:nvGrpSpPr>
          <p:cNvPr name="Group 16" id="16"/>
          <p:cNvGrpSpPr/>
          <p:nvPr/>
        </p:nvGrpSpPr>
        <p:grpSpPr>
          <a:xfrm rot="0">
            <a:off x="9346745" y="5030256"/>
            <a:ext cx="3773952" cy="3731260"/>
            <a:chOff x="0" y="0"/>
            <a:chExt cx="5031935" cy="4975014"/>
          </a:xfrm>
        </p:grpSpPr>
        <p:sp>
          <p:nvSpPr>
            <p:cNvPr name="TextBox 17" id="17"/>
            <p:cNvSpPr txBox="true"/>
            <p:nvPr/>
          </p:nvSpPr>
          <p:spPr>
            <a:xfrm rot="0">
              <a:off x="0" y="-66675"/>
              <a:ext cx="5031935" cy="1953049"/>
            </a:xfrm>
            <a:prstGeom prst="rect">
              <a:avLst/>
            </a:prstGeom>
          </p:spPr>
          <p:txBody>
            <a:bodyPr anchor="t" rtlCol="false" tIns="0" lIns="0" bIns="0" rIns="0">
              <a:spAutoFit/>
            </a:bodyPr>
            <a:lstStyle/>
            <a:p>
              <a:pPr algn="l">
                <a:lnSpc>
                  <a:spcPts val="3919"/>
                </a:lnSpc>
              </a:pPr>
              <a:r>
                <a:rPr lang="en-US" sz="2799" b="true">
                  <a:solidFill>
                    <a:srgbClr val="2B2C30"/>
                  </a:solidFill>
                  <a:latin typeface="Public Sans Bold"/>
                  <a:ea typeface="Public Sans Bold"/>
                  <a:cs typeface="Public Sans Bold"/>
                  <a:sym typeface="Public Sans Bold"/>
                </a:rPr>
                <a:t>🔒 Secure Message Hiding with LSB Technique</a:t>
              </a:r>
            </a:p>
          </p:txBody>
        </p:sp>
        <p:sp>
          <p:nvSpPr>
            <p:cNvPr name="TextBox 18" id="18"/>
            <p:cNvSpPr txBox="true"/>
            <p:nvPr/>
          </p:nvSpPr>
          <p:spPr>
            <a:xfrm rot="0">
              <a:off x="0" y="2064174"/>
              <a:ext cx="5031935" cy="2910840"/>
            </a:xfrm>
            <a:prstGeom prst="rect">
              <a:avLst/>
            </a:prstGeom>
          </p:spPr>
          <p:txBody>
            <a:bodyPr anchor="t" rtlCol="false" tIns="0" lIns="0" bIns="0" rIns="0">
              <a:spAutoFit/>
            </a:bodyPr>
            <a:lstStyle/>
            <a:p>
              <a:pPr algn="l">
                <a:lnSpc>
                  <a:spcPts val="2520"/>
                </a:lnSpc>
              </a:pPr>
              <a:r>
                <a:rPr lang="en-US" sz="1800">
                  <a:solidFill>
                    <a:srgbClr val="2B2C30"/>
                  </a:solidFill>
                  <a:latin typeface="Public Sans"/>
                  <a:ea typeface="Public Sans"/>
                  <a:cs typeface="Public Sans"/>
                  <a:sym typeface="Public Sans"/>
                </a:rPr>
                <a:t>Uses the Least Significant Bit (LSB) steganography method, which ensures that the hidden message is embedded without noticeable changes to the image, making it undetectable to the human eye.</a:t>
              </a:r>
            </a:p>
          </p:txBody>
        </p:sp>
      </p:grpSp>
      <p:grpSp>
        <p:nvGrpSpPr>
          <p:cNvPr name="Group 19" id="19"/>
          <p:cNvGrpSpPr/>
          <p:nvPr/>
        </p:nvGrpSpPr>
        <p:grpSpPr>
          <a:xfrm rot="0">
            <a:off x="5220369" y="5030256"/>
            <a:ext cx="3773952" cy="2292985"/>
            <a:chOff x="0" y="0"/>
            <a:chExt cx="5031935" cy="3057314"/>
          </a:xfrm>
        </p:grpSpPr>
        <p:sp>
          <p:nvSpPr>
            <p:cNvPr name="TextBox 20" id="20"/>
            <p:cNvSpPr txBox="true"/>
            <p:nvPr/>
          </p:nvSpPr>
          <p:spPr>
            <a:xfrm rot="0">
              <a:off x="0" y="-66675"/>
              <a:ext cx="5031935" cy="1292649"/>
            </a:xfrm>
            <a:prstGeom prst="rect">
              <a:avLst/>
            </a:prstGeom>
          </p:spPr>
          <p:txBody>
            <a:bodyPr anchor="t" rtlCol="false" tIns="0" lIns="0" bIns="0" rIns="0">
              <a:spAutoFit/>
            </a:bodyPr>
            <a:lstStyle/>
            <a:p>
              <a:pPr algn="l">
                <a:lnSpc>
                  <a:spcPts val="3919"/>
                </a:lnSpc>
              </a:pPr>
              <a:r>
                <a:rPr lang="en-US" sz="2799" b="true">
                  <a:solidFill>
                    <a:srgbClr val="2B2C30"/>
                  </a:solidFill>
                  <a:latin typeface="Public Sans Bold"/>
                  <a:ea typeface="Public Sans Bold"/>
                  <a:cs typeface="Public Sans Bold"/>
                  <a:sym typeface="Public Sans Bold"/>
                </a:rPr>
                <a:t>📜 Built-in Text Editor for Message </a:t>
              </a:r>
            </a:p>
          </p:txBody>
        </p:sp>
        <p:sp>
          <p:nvSpPr>
            <p:cNvPr name="TextBox 21" id="21"/>
            <p:cNvSpPr txBox="true"/>
            <p:nvPr/>
          </p:nvSpPr>
          <p:spPr>
            <a:xfrm rot="0">
              <a:off x="0" y="1403774"/>
              <a:ext cx="5031935" cy="1653540"/>
            </a:xfrm>
            <a:prstGeom prst="rect">
              <a:avLst/>
            </a:prstGeom>
          </p:spPr>
          <p:txBody>
            <a:bodyPr anchor="t" rtlCol="false" tIns="0" lIns="0" bIns="0" rIns="0">
              <a:spAutoFit/>
            </a:bodyPr>
            <a:lstStyle/>
            <a:p>
              <a:pPr algn="l">
                <a:lnSpc>
                  <a:spcPts val="2520"/>
                </a:lnSpc>
              </a:pPr>
              <a:r>
                <a:rPr lang="en-US" sz="1800">
                  <a:solidFill>
                    <a:srgbClr val="2B2C30"/>
                  </a:solidFill>
                  <a:latin typeface="Public Sans"/>
                  <a:ea typeface="Public Sans"/>
                  <a:cs typeface="Public Sans"/>
                  <a:sym typeface="Public Sans"/>
                </a:rPr>
                <a:t>Includes a scrollable text box where users can type or retrieve their hidden messages, making the process smooth and convenient.</a:t>
              </a:r>
            </a:p>
          </p:txBody>
        </p:sp>
      </p:grpSp>
      <p:grpSp>
        <p:nvGrpSpPr>
          <p:cNvPr name="Group 22" id="22"/>
          <p:cNvGrpSpPr/>
          <p:nvPr/>
        </p:nvGrpSpPr>
        <p:grpSpPr>
          <a:xfrm rot="0">
            <a:off x="13485348" y="5030256"/>
            <a:ext cx="3773952" cy="2788285"/>
            <a:chOff x="0" y="0"/>
            <a:chExt cx="5031935" cy="3717714"/>
          </a:xfrm>
        </p:grpSpPr>
        <p:sp>
          <p:nvSpPr>
            <p:cNvPr name="TextBox 23" id="23"/>
            <p:cNvSpPr txBox="true"/>
            <p:nvPr/>
          </p:nvSpPr>
          <p:spPr>
            <a:xfrm rot="0">
              <a:off x="0" y="-66675"/>
              <a:ext cx="5031935" cy="1953049"/>
            </a:xfrm>
            <a:prstGeom prst="rect">
              <a:avLst/>
            </a:prstGeom>
          </p:spPr>
          <p:txBody>
            <a:bodyPr anchor="t" rtlCol="false" tIns="0" lIns="0" bIns="0" rIns="0">
              <a:spAutoFit/>
            </a:bodyPr>
            <a:lstStyle/>
            <a:p>
              <a:pPr algn="l">
                <a:lnSpc>
                  <a:spcPts val="3919"/>
                </a:lnSpc>
              </a:pPr>
              <a:r>
                <a:rPr lang="en-US" sz="2799" b="true">
                  <a:solidFill>
                    <a:srgbClr val="2B2C30"/>
                  </a:solidFill>
                  <a:latin typeface="Public Sans Bold"/>
                  <a:ea typeface="Public Sans Bold"/>
                  <a:cs typeface="Public Sans Bold"/>
                  <a:sym typeface="Public Sans Bold"/>
                </a:rPr>
                <a:t>📂 Seamless File Handling &amp; Image Selection</a:t>
              </a:r>
            </a:p>
          </p:txBody>
        </p:sp>
        <p:sp>
          <p:nvSpPr>
            <p:cNvPr name="TextBox 24" id="24"/>
            <p:cNvSpPr txBox="true"/>
            <p:nvPr/>
          </p:nvSpPr>
          <p:spPr>
            <a:xfrm rot="0">
              <a:off x="0" y="2064174"/>
              <a:ext cx="5031935" cy="1653540"/>
            </a:xfrm>
            <a:prstGeom prst="rect">
              <a:avLst/>
            </a:prstGeom>
          </p:spPr>
          <p:txBody>
            <a:bodyPr anchor="t" rtlCol="false" tIns="0" lIns="0" bIns="0" rIns="0">
              <a:spAutoFit/>
            </a:bodyPr>
            <a:lstStyle/>
            <a:p>
              <a:pPr algn="l">
                <a:lnSpc>
                  <a:spcPts val="2520"/>
                </a:lnSpc>
              </a:pPr>
              <a:r>
                <a:rPr lang="en-US" sz="1800">
                  <a:solidFill>
                    <a:srgbClr val="2B2C30"/>
                  </a:solidFill>
                  <a:latin typeface="Public Sans"/>
                  <a:ea typeface="Public Sans"/>
                  <a:cs typeface="Public Sans"/>
                  <a:sym typeface="Public Sans"/>
                </a:rPr>
                <a:t>Allows users to browse and select images directly from their system using the file dialog, providing an effortless user experience.</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Freeform 2" id="2"/>
          <p:cNvSpPr/>
          <p:nvPr/>
        </p:nvSpPr>
        <p:spPr>
          <a:xfrm flipH="false" flipV="false" rot="0">
            <a:off x="16701746" y="8616481"/>
            <a:ext cx="535737" cy="727544"/>
          </a:xfrm>
          <a:custGeom>
            <a:avLst/>
            <a:gdLst/>
            <a:ahLst/>
            <a:cxnLst/>
            <a:rect r="r" b="b" t="t" l="l"/>
            <a:pathLst>
              <a:path h="727544" w="535737">
                <a:moveTo>
                  <a:pt x="0" y="0"/>
                </a:moveTo>
                <a:lnTo>
                  <a:pt x="535736" y="0"/>
                </a:lnTo>
                <a:lnTo>
                  <a:pt x="535736" y="727544"/>
                </a:lnTo>
                <a:lnTo>
                  <a:pt x="0" y="7275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flipV="true">
            <a:off x="1028695" y="1760761"/>
            <a:ext cx="16230594" cy="38509"/>
          </a:xfrm>
          <a:prstGeom prst="line">
            <a:avLst/>
          </a:prstGeom>
          <a:ln cap="flat" w="9525">
            <a:solidFill>
              <a:srgbClr val="2B2C30"/>
            </a:solidFill>
            <a:prstDash val="solid"/>
            <a:headEnd type="none" len="sm" w="sm"/>
            <a:tailEnd type="none" len="sm" w="sm"/>
          </a:ln>
        </p:spPr>
      </p:sp>
      <p:sp>
        <p:nvSpPr>
          <p:cNvPr name="TextBox 4" id="4"/>
          <p:cNvSpPr txBox="true"/>
          <p:nvPr/>
        </p:nvSpPr>
        <p:spPr>
          <a:xfrm rot="0">
            <a:off x="1028689" y="914992"/>
            <a:ext cx="16230600" cy="679081"/>
          </a:xfrm>
          <a:prstGeom prst="rect">
            <a:avLst/>
          </a:prstGeom>
        </p:spPr>
        <p:txBody>
          <a:bodyPr anchor="t" rtlCol="false" tIns="0" lIns="0" bIns="0" rIns="0">
            <a:spAutoFit/>
          </a:bodyPr>
          <a:lstStyle/>
          <a:p>
            <a:pPr algn="l">
              <a:lnSpc>
                <a:spcPts val="5620"/>
              </a:lnSpc>
              <a:spcBef>
                <a:spcPct val="0"/>
              </a:spcBef>
            </a:pPr>
            <a:r>
              <a:rPr lang="en-US" b="true" sz="4014" spc="911">
                <a:solidFill>
                  <a:srgbClr val="2B2C30"/>
                </a:solidFill>
                <a:latin typeface="Public Sans Bold"/>
                <a:ea typeface="Public Sans Bold"/>
                <a:cs typeface="Public Sans Bold"/>
                <a:sym typeface="Public Sans Bold"/>
              </a:rPr>
              <a:t>END USERS</a:t>
            </a:r>
          </a:p>
        </p:txBody>
      </p:sp>
      <p:sp>
        <p:nvSpPr>
          <p:cNvPr name="TextBox 5" id="5"/>
          <p:cNvSpPr txBox="true"/>
          <p:nvPr/>
        </p:nvSpPr>
        <p:spPr>
          <a:xfrm rot="0">
            <a:off x="976465" y="2495027"/>
            <a:ext cx="3761659" cy="1256538"/>
          </a:xfrm>
          <a:prstGeom prst="rect">
            <a:avLst/>
          </a:prstGeom>
        </p:spPr>
        <p:txBody>
          <a:bodyPr anchor="t" rtlCol="false" tIns="0" lIns="0" bIns="0" rIns="0">
            <a:spAutoFit/>
          </a:bodyPr>
          <a:lstStyle/>
          <a:p>
            <a:pPr algn="l">
              <a:lnSpc>
                <a:spcPts val="3276"/>
              </a:lnSpc>
            </a:pPr>
            <a:r>
              <a:rPr lang="en-US" sz="3600" i="true" spc="18">
                <a:solidFill>
                  <a:srgbClr val="2B2C30"/>
                </a:solidFill>
                <a:latin typeface="Playfair Display Italics"/>
                <a:ea typeface="Playfair Display Italics"/>
                <a:cs typeface="Playfair Display Italics"/>
                <a:sym typeface="Playfair Display Italics"/>
              </a:rPr>
              <a:t>🔐 Cybersecurity Enthusiasts &amp; Ethical Hackers</a:t>
            </a:r>
          </a:p>
        </p:txBody>
      </p:sp>
      <p:sp>
        <p:nvSpPr>
          <p:cNvPr name="TextBox 6" id="6"/>
          <p:cNvSpPr txBox="true"/>
          <p:nvPr/>
        </p:nvSpPr>
        <p:spPr>
          <a:xfrm rot="0">
            <a:off x="6863968" y="2699815"/>
            <a:ext cx="3761659" cy="846963"/>
          </a:xfrm>
          <a:prstGeom prst="rect">
            <a:avLst/>
          </a:prstGeom>
        </p:spPr>
        <p:txBody>
          <a:bodyPr anchor="t" rtlCol="false" tIns="0" lIns="0" bIns="0" rIns="0">
            <a:spAutoFit/>
          </a:bodyPr>
          <a:lstStyle/>
          <a:p>
            <a:pPr algn="l">
              <a:lnSpc>
                <a:spcPts val="3276"/>
              </a:lnSpc>
            </a:pPr>
            <a:r>
              <a:rPr lang="en-US" sz="3600" i="true" spc="18">
                <a:solidFill>
                  <a:srgbClr val="2B2C30"/>
                </a:solidFill>
                <a:latin typeface="Playfair Display Italics"/>
                <a:ea typeface="Playfair Display Italics"/>
                <a:cs typeface="Playfair Display Italics"/>
                <a:sym typeface="Playfair Display Italics"/>
              </a:rPr>
              <a:t>🎓 Students &amp; Researchers</a:t>
            </a:r>
          </a:p>
        </p:txBody>
      </p:sp>
      <p:sp>
        <p:nvSpPr>
          <p:cNvPr name="TextBox 7" id="7"/>
          <p:cNvSpPr txBox="true"/>
          <p:nvPr/>
        </p:nvSpPr>
        <p:spPr>
          <a:xfrm rot="0">
            <a:off x="12754901" y="2656952"/>
            <a:ext cx="3761659" cy="1256538"/>
          </a:xfrm>
          <a:prstGeom prst="rect">
            <a:avLst/>
          </a:prstGeom>
        </p:spPr>
        <p:txBody>
          <a:bodyPr anchor="t" rtlCol="false" tIns="0" lIns="0" bIns="0" rIns="0">
            <a:spAutoFit/>
          </a:bodyPr>
          <a:lstStyle/>
          <a:p>
            <a:pPr algn="l">
              <a:lnSpc>
                <a:spcPts val="3276"/>
              </a:lnSpc>
            </a:pPr>
            <a:r>
              <a:rPr lang="en-US" sz="3600" i="true" spc="18">
                <a:solidFill>
                  <a:srgbClr val="2B2C30"/>
                </a:solidFill>
                <a:latin typeface="Playfair Display Italics"/>
                <a:ea typeface="Playfair Display Italics"/>
                <a:cs typeface="Playfair Display Italics"/>
                <a:sym typeface="Playfair Display Italics"/>
              </a:rPr>
              <a:t>🎮 Digital Artists &amp; Content Creators</a:t>
            </a:r>
          </a:p>
        </p:txBody>
      </p:sp>
      <p:sp>
        <p:nvSpPr>
          <p:cNvPr name="TextBox 8" id="8"/>
          <p:cNvSpPr txBox="true"/>
          <p:nvPr/>
        </p:nvSpPr>
        <p:spPr>
          <a:xfrm rot="0">
            <a:off x="976465" y="3875390"/>
            <a:ext cx="3773952" cy="1990090"/>
          </a:xfrm>
          <a:prstGeom prst="rect">
            <a:avLst/>
          </a:prstGeom>
        </p:spPr>
        <p:txBody>
          <a:bodyPr anchor="t" rtlCol="false" tIns="0" lIns="0" bIns="0" rIns="0">
            <a:spAutoFit/>
          </a:bodyPr>
          <a:lstStyle/>
          <a:p>
            <a:pPr algn="l">
              <a:lnSpc>
                <a:spcPts val="2659"/>
              </a:lnSpc>
            </a:pPr>
            <a:r>
              <a:rPr lang="en-US" sz="1899">
                <a:solidFill>
                  <a:srgbClr val="2B2C30"/>
                </a:solidFill>
                <a:latin typeface="Public Sans"/>
                <a:ea typeface="Public Sans"/>
                <a:cs typeface="Public Sans"/>
                <a:sym typeface="Public Sans"/>
              </a:rPr>
              <a:t>Individuals exploring secure communication techniques and cryptographic concepts can use this project to understand and experiment with covert data transmission.</a:t>
            </a:r>
          </a:p>
        </p:txBody>
      </p:sp>
      <p:sp>
        <p:nvSpPr>
          <p:cNvPr name="TextBox 9" id="9"/>
          <p:cNvSpPr txBox="true"/>
          <p:nvPr/>
        </p:nvSpPr>
        <p:spPr>
          <a:xfrm rot="0">
            <a:off x="6853569" y="3875390"/>
            <a:ext cx="3772057" cy="1878330"/>
          </a:xfrm>
          <a:prstGeom prst="rect">
            <a:avLst/>
          </a:prstGeom>
        </p:spPr>
        <p:txBody>
          <a:bodyPr anchor="t" rtlCol="false" tIns="0" lIns="0" bIns="0" rIns="0">
            <a:spAutoFit/>
          </a:bodyPr>
          <a:lstStyle/>
          <a:p>
            <a:pPr algn="l">
              <a:lnSpc>
                <a:spcPts val="2520"/>
              </a:lnSpc>
            </a:pPr>
            <a:r>
              <a:rPr lang="en-US" sz="1800">
                <a:solidFill>
                  <a:srgbClr val="2B2C30"/>
                </a:solidFill>
                <a:latin typeface="Public Sans"/>
                <a:ea typeface="Public Sans"/>
                <a:cs typeface="Public Sans"/>
                <a:sym typeface="Public Sans"/>
              </a:rPr>
              <a:t>Computer Science and Cybersecurity students studying steganography techniques can use this project as a learning tool or as part of research on data hiding and digital forensics.</a:t>
            </a:r>
          </a:p>
        </p:txBody>
      </p:sp>
      <p:sp>
        <p:nvSpPr>
          <p:cNvPr name="TextBox 10" id="10"/>
          <p:cNvSpPr txBox="true"/>
          <p:nvPr/>
        </p:nvSpPr>
        <p:spPr>
          <a:xfrm rot="0">
            <a:off x="12744502" y="4032553"/>
            <a:ext cx="3772057" cy="1564005"/>
          </a:xfrm>
          <a:prstGeom prst="rect">
            <a:avLst/>
          </a:prstGeom>
        </p:spPr>
        <p:txBody>
          <a:bodyPr anchor="t" rtlCol="false" tIns="0" lIns="0" bIns="0" rIns="0">
            <a:spAutoFit/>
          </a:bodyPr>
          <a:lstStyle/>
          <a:p>
            <a:pPr algn="l">
              <a:lnSpc>
                <a:spcPts val="2520"/>
              </a:lnSpc>
            </a:pPr>
            <a:r>
              <a:rPr lang="en-US" sz="1800">
                <a:solidFill>
                  <a:srgbClr val="2B2C30"/>
                </a:solidFill>
                <a:latin typeface="Public Sans"/>
                <a:ea typeface="Public Sans"/>
                <a:cs typeface="Public Sans"/>
                <a:sym typeface="Public Sans"/>
              </a:rPr>
              <a:t>Creators who want to embed watermarks, secret messages, or hidden metadata inside digital artwork or images can use this tool for creative and security purposes.</a:t>
            </a:r>
          </a:p>
        </p:txBody>
      </p:sp>
      <p:sp>
        <p:nvSpPr>
          <p:cNvPr name="TextBox 11" id="11"/>
          <p:cNvSpPr txBox="true"/>
          <p:nvPr/>
        </p:nvSpPr>
        <p:spPr>
          <a:xfrm rot="0">
            <a:off x="2167617" y="7030987"/>
            <a:ext cx="13451577" cy="1118235"/>
          </a:xfrm>
          <a:prstGeom prst="rect">
            <a:avLst/>
          </a:prstGeom>
        </p:spPr>
        <p:txBody>
          <a:bodyPr anchor="t" rtlCol="false" tIns="0" lIns="0" bIns="0" rIns="0">
            <a:spAutoFit/>
          </a:bodyPr>
          <a:lstStyle/>
          <a:p>
            <a:pPr algn="l">
              <a:lnSpc>
                <a:spcPts val="2939"/>
              </a:lnSpc>
            </a:pPr>
            <a:r>
              <a:rPr lang="en-US" sz="2099">
                <a:solidFill>
                  <a:srgbClr val="2B2C30"/>
                </a:solidFill>
                <a:latin typeface="Public Sans"/>
                <a:ea typeface="Public Sans"/>
                <a:cs typeface="Public Sans"/>
                <a:sym typeface="Public Sans"/>
              </a:rPr>
              <a:t>This project is useful for anyone who values privacy and secure communication. Whether it’s for learning, security, or creative purposes, the Image Steganography tool provides a simple yet powerful way to embed and retrieve hidden data within images.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grpSp>
        <p:nvGrpSpPr>
          <p:cNvPr name="Group 2" id="2"/>
          <p:cNvGrpSpPr/>
          <p:nvPr/>
        </p:nvGrpSpPr>
        <p:grpSpPr>
          <a:xfrm rot="0">
            <a:off x="225637" y="1721452"/>
            <a:ext cx="8544736" cy="8114261"/>
            <a:chOff x="0" y="0"/>
            <a:chExt cx="2598961" cy="2468028"/>
          </a:xfrm>
        </p:grpSpPr>
        <p:sp>
          <p:nvSpPr>
            <p:cNvPr name="Freeform 3" id="3"/>
            <p:cNvSpPr/>
            <p:nvPr/>
          </p:nvSpPr>
          <p:spPr>
            <a:xfrm flipH="false" flipV="false" rot="0">
              <a:off x="0" y="0"/>
              <a:ext cx="2598961" cy="2468028"/>
            </a:xfrm>
            <a:custGeom>
              <a:avLst/>
              <a:gdLst/>
              <a:ahLst/>
              <a:cxnLst/>
              <a:rect r="r" b="b" t="t" l="l"/>
              <a:pathLst>
                <a:path h="2468028" w="2598961">
                  <a:moveTo>
                    <a:pt x="0" y="0"/>
                  </a:moveTo>
                  <a:lnTo>
                    <a:pt x="2598961" y="0"/>
                  </a:lnTo>
                  <a:lnTo>
                    <a:pt x="2598961" y="2468028"/>
                  </a:lnTo>
                  <a:lnTo>
                    <a:pt x="0" y="2468028"/>
                  </a:lnTo>
                  <a:close/>
                </a:path>
              </a:pathLst>
            </a:custGeom>
            <a:solidFill>
              <a:srgbClr val="000000">
                <a:alpha val="0"/>
              </a:srgbClr>
            </a:solidFill>
            <a:ln w="9525" cap="sq">
              <a:solidFill>
                <a:srgbClr val="2B2C30"/>
              </a:solidFill>
              <a:prstDash val="solid"/>
              <a:miter/>
            </a:ln>
          </p:spPr>
        </p:sp>
        <p:sp>
          <p:nvSpPr>
            <p:cNvPr name="TextBox 4" id="4"/>
            <p:cNvSpPr txBox="true"/>
            <p:nvPr/>
          </p:nvSpPr>
          <p:spPr>
            <a:xfrm>
              <a:off x="0" y="-28575"/>
              <a:ext cx="2598961" cy="2496603"/>
            </a:xfrm>
            <a:prstGeom prst="rect">
              <a:avLst/>
            </a:prstGeom>
          </p:spPr>
          <p:txBody>
            <a:bodyPr anchor="ctr" rtlCol="false" tIns="68580" lIns="68580" bIns="68580" rIns="68580"/>
            <a:lstStyle/>
            <a:p>
              <a:pPr algn="ctr">
                <a:lnSpc>
                  <a:spcPts val="1889"/>
                </a:lnSpc>
              </a:pPr>
            </a:p>
          </p:txBody>
        </p:sp>
      </p:grpSp>
      <p:grpSp>
        <p:nvGrpSpPr>
          <p:cNvPr name="Group 5" id="5"/>
          <p:cNvGrpSpPr/>
          <p:nvPr/>
        </p:nvGrpSpPr>
        <p:grpSpPr>
          <a:xfrm rot="0">
            <a:off x="9250131" y="1721452"/>
            <a:ext cx="8421939" cy="8114261"/>
            <a:chOff x="0" y="0"/>
            <a:chExt cx="2561611" cy="2468028"/>
          </a:xfrm>
        </p:grpSpPr>
        <p:sp>
          <p:nvSpPr>
            <p:cNvPr name="Freeform 6" id="6"/>
            <p:cNvSpPr/>
            <p:nvPr/>
          </p:nvSpPr>
          <p:spPr>
            <a:xfrm flipH="false" flipV="false" rot="0">
              <a:off x="0" y="0"/>
              <a:ext cx="2561611" cy="2468028"/>
            </a:xfrm>
            <a:custGeom>
              <a:avLst/>
              <a:gdLst/>
              <a:ahLst/>
              <a:cxnLst/>
              <a:rect r="r" b="b" t="t" l="l"/>
              <a:pathLst>
                <a:path h="2468028" w="2561611">
                  <a:moveTo>
                    <a:pt x="0" y="0"/>
                  </a:moveTo>
                  <a:lnTo>
                    <a:pt x="2561611" y="0"/>
                  </a:lnTo>
                  <a:lnTo>
                    <a:pt x="2561611" y="2468028"/>
                  </a:lnTo>
                  <a:lnTo>
                    <a:pt x="0" y="2468028"/>
                  </a:lnTo>
                  <a:close/>
                </a:path>
              </a:pathLst>
            </a:custGeom>
            <a:solidFill>
              <a:srgbClr val="000000">
                <a:alpha val="0"/>
              </a:srgbClr>
            </a:solidFill>
            <a:ln w="9525" cap="sq">
              <a:solidFill>
                <a:srgbClr val="2B2C30"/>
              </a:solidFill>
              <a:prstDash val="solid"/>
              <a:miter/>
            </a:ln>
          </p:spPr>
        </p:sp>
        <p:sp>
          <p:nvSpPr>
            <p:cNvPr name="TextBox 7" id="7"/>
            <p:cNvSpPr txBox="true"/>
            <p:nvPr/>
          </p:nvSpPr>
          <p:spPr>
            <a:xfrm>
              <a:off x="0" y="-28575"/>
              <a:ext cx="2561611" cy="2496603"/>
            </a:xfrm>
            <a:prstGeom prst="rect">
              <a:avLst/>
            </a:prstGeom>
          </p:spPr>
          <p:txBody>
            <a:bodyPr anchor="ctr" rtlCol="false" tIns="68580" lIns="68580" bIns="68580" rIns="68580"/>
            <a:lstStyle/>
            <a:p>
              <a:pPr algn="ctr">
                <a:lnSpc>
                  <a:spcPts val="1889"/>
                </a:lnSpc>
              </a:pPr>
            </a:p>
          </p:txBody>
        </p:sp>
      </p:grpSp>
      <p:sp>
        <p:nvSpPr>
          <p:cNvPr name="TextBox 8" id="8"/>
          <p:cNvSpPr txBox="true"/>
          <p:nvPr/>
        </p:nvSpPr>
        <p:spPr>
          <a:xfrm rot="0">
            <a:off x="9409134" y="1908169"/>
            <a:ext cx="8262936" cy="548417"/>
          </a:xfrm>
          <a:prstGeom prst="rect">
            <a:avLst/>
          </a:prstGeom>
        </p:spPr>
        <p:txBody>
          <a:bodyPr anchor="t" rtlCol="false" tIns="0" lIns="0" bIns="0" rIns="0">
            <a:spAutoFit/>
          </a:bodyPr>
          <a:lstStyle/>
          <a:p>
            <a:pPr algn="l">
              <a:lnSpc>
                <a:spcPts val="4461"/>
              </a:lnSpc>
            </a:pPr>
            <a:r>
              <a:rPr lang="en-US" sz="3186" b="true">
                <a:solidFill>
                  <a:srgbClr val="2B2C30"/>
                </a:solidFill>
                <a:latin typeface="Public Sans Bold"/>
                <a:ea typeface="Public Sans Bold"/>
                <a:cs typeface="Public Sans Bold"/>
                <a:sym typeface="Public Sans Bold"/>
              </a:rPr>
              <a:t>2) MESSAGE HIDDEN FILE CREATED </a:t>
            </a:r>
          </a:p>
        </p:txBody>
      </p:sp>
      <p:sp>
        <p:nvSpPr>
          <p:cNvPr name="Freeform 9" id="9"/>
          <p:cNvSpPr/>
          <p:nvPr/>
        </p:nvSpPr>
        <p:spPr>
          <a:xfrm flipH="false" flipV="false" rot="0">
            <a:off x="9577516" y="3024549"/>
            <a:ext cx="7208812" cy="4694403"/>
          </a:xfrm>
          <a:custGeom>
            <a:avLst/>
            <a:gdLst/>
            <a:ahLst/>
            <a:cxnLst/>
            <a:rect r="r" b="b" t="t" l="l"/>
            <a:pathLst>
              <a:path h="4694403" w="7208812">
                <a:moveTo>
                  <a:pt x="0" y="0"/>
                </a:moveTo>
                <a:lnTo>
                  <a:pt x="7208812" y="0"/>
                </a:lnTo>
                <a:lnTo>
                  <a:pt x="7208812" y="4694403"/>
                </a:lnTo>
                <a:lnTo>
                  <a:pt x="0" y="4694403"/>
                </a:lnTo>
                <a:lnTo>
                  <a:pt x="0" y="0"/>
                </a:lnTo>
                <a:close/>
              </a:path>
            </a:pathLst>
          </a:custGeom>
          <a:blipFill>
            <a:blip r:embed="rId2"/>
            <a:stretch>
              <a:fillRect l="0" t="0" r="-17752" b="-13918"/>
            </a:stretch>
          </a:blipFill>
        </p:spPr>
      </p:sp>
      <p:sp>
        <p:nvSpPr>
          <p:cNvPr name="Freeform 10" id="10"/>
          <p:cNvSpPr/>
          <p:nvPr/>
        </p:nvSpPr>
        <p:spPr>
          <a:xfrm flipH="false" flipV="false" rot="0">
            <a:off x="555728" y="2600782"/>
            <a:ext cx="7322522" cy="5541937"/>
          </a:xfrm>
          <a:custGeom>
            <a:avLst/>
            <a:gdLst/>
            <a:ahLst/>
            <a:cxnLst/>
            <a:rect r="r" b="b" t="t" l="l"/>
            <a:pathLst>
              <a:path h="5541937" w="7322522">
                <a:moveTo>
                  <a:pt x="0" y="0"/>
                </a:moveTo>
                <a:lnTo>
                  <a:pt x="7322522" y="0"/>
                </a:lnTo>
                <a:lnTo>
                  <a:pt x="7322522" y="5541937"/>
                </a:lnTo>
                <a:lnTo>
                  <a:pt x="0" y="5541937"/>
                </a:lnTo>
                <a:lnTo>
                  <a:pt x="0" y="0"/>
                </a:lnTo>
                <a:close/>
              </a:path>
            </a:pathLst>
          </a:custGeom>
          <a:blipFill>
            <a:blip r:embed="rId3"/>
            <a:stretch>
              <a:fillRect l="0" t="0" r="0" b="0"/>
            </a:stretch>
          </a:blipFill>
        </p:spPr>
      </p:sp>
      <p:sp>
        <p:nvSpPr>
          <p:cNvPr name="TextBox 11" id="11"/>
          <p:cNvSpPr txBox="true"/>
          <p:nvPr/>
        </p:nvSpPr>
        <p:spPr>
          <a:xfrm rot="0">
            <a:off x="403778" y="377601"/>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RESULTS</a:t>
            </a:r>
          </a:p>
        </p:txBody>
      </p:sp>
      <p:sp>
        <p:nvSpPr>
          <p:cNvPr name="TextBox 12" id="12"/>
          <p:cNvSpPr txBox="true"/>
          <p:nvPr/>
        </p:nvSpPr>
        <p:spPr>
          <a:xfrm rot="0">
            <a:off x="555728" y="1871390"/>
            <a:ext cx="6105234" cy="548417"/>
          </a:xfrm>
          <a:prstGeom prst="rect">
            <a:avLst/>
          </a:prstGeom>
        </p:spPr>
        <p:txBody>
          <a:bodyPr anchor="t" rtlCol="false" tIns="0" lIns="0" bIns="0" rIns="0">
            <a:spAutoFit/>
          </a:bodyPr>
          <a:lstStyle/>
          <a:p>
            <a:pPr algn="l">
              <a:lnSpc>
                <a:spcPts val="4461"/>
              </a:lnSpc>
            </a:pPr>
            <a:r>
              <a:rPr lang="en-US" sz="3186" b="true">
                <a:solidFill>
                  <a:srgbClr val="2B2C30"/>
                </a:solidFill>
                <a:latin typeface="Public Sans Bold"/>
                <a:ea typeface="Public Sans Bold"/>
                <a:cs typeface="Public Sans Bold"/>
                <a:sym typeface="Public Sans Bold"/>
              </a:rPr>
              <a:t>1) HIDING MESSAGE IN IMAGE </a:t>
            </a:r>
          </a:p>
        </p:txBody>
      </p:sp>
      <p:sp>
        <p:nvSpPr>
          <p:cNvPr name="TextBox 13" id="13"/>
          <p:cNvSpPr txBox="true"/>
          <p:nvPr/>
        </p:nvSpPr>
        <p:spPr>
          <a:xfrm rot="0">
            <a:off x="555728" y="8286960"/>
            <a:ext cx="5696119" cy="1323340"/>
          </a:xfrm>
          <a:prstGeom prst="rect">
            <a:avLst/>
          </a:prstGeom>
        </p:spPr>
        <p:txBody>
          <a:bodyPr anchor="t" rtlCol="false" tIns="0" lIns="0" bIns="0" rIns="0">
            <a:spAutoFit/>
          </a:bodyPr>
          <a:lstStyle/>
          <a:p>
            <a:pPr algn="l">
              <a:lnSpc>
                <a:spcPts val="2659"/>
              </a:lnSpc>
            </a:pPr>
            <a:r>
              <a:rPr lang="en-US" sz="1899">
                <a:solidFill>
                  <a:srgbClr val="2B2C30"/>
                </a:solidFill>
                <a:latin typeface="Public Sans"/>
                <a:ea typeface="Public Sans"/>
                <a:cs typeface="Public Sans"/>
                <a:sym typeface="Public Sans"/>
              </a:rPr>
              <a:t>1) Open the image from files. </a:t>
            </a:r>
          </a:p>
          <a:p>
            <a:pPr algn="l">
              <a:lnSpc>
                <a:spcPts val="2659"/>
              </a:lnSpc>
            </a:pPr>
            <a:r>
              <a:rPr lang="en-US" sz="1899">
                <a:solidFill>
                  <a:srgbClr val="2B2C30"/>
                </a:solidFill>
                <a:latin typeface="Public Sans"/>
                <a:ea typeface="Public Sans"/>
                <a:cs typeface="Public Sans"/>
                <a:sym typeface="Public Sans"/>
              </a:rPr>
              <a:t>2) Type the secret message, click on “Hide data”</a:t>
            </a:r>
          </a:p>
          <a:p>
            <a:pPr algn="l">
              <a:lnSpc>
                <a:spcPts val="2659"/>
              </a:lnSpc>
            </a:pPr>
            <a:r>
              <a:rPr lang="en-US" sz="1899">
                <a:solidFill>
                  <a:srgbClr val="2B2C30"/>
                </a:solidFill>
                <a:latin typeface="Public Sans"/>
                <a:ea typeface="Public Sans"/>
                <a:cs typeface="Public Sans"/>
                <a:sym typeface="Public Sans"/>
              </a:rPr>
              <a:t>3) Click on “Save image”.</a:t>
            </a:r>
          </a:p>
          <a:p>
            <a:pPr algn="l">
              <a:lnSpc>
                <a:spcPts val="2659"/>
              </a:lnSpc>
            </a:pPr>
            <a:r>
              <a:rPr lang="en-US" sz="1899">
                <a:solidFill>
                  <a:srgbClr val="2B2C30"/>
                </a:solidFill>
                <a:latin typeface="Public Sans"/>
                <a:ea typeface="Public Sans"/>
                <a:cs typeface="Public Sans"/>
                <a:sym typeface="Public Sans"/>
              </a:rPr>
              <a:t>4) Image with hidden message created </a:t>
            </a:r>
          </a:p>
        </p:txBody>
      </p:sp>
      <p:sp>
        <p:nvSpPr>
          <p:cNvPr name="TextBox 14" id="14"/>
          <p:cNvSpPr txBox="true"/>
          <p:nvPr/>
        </p:nvSpPr>
        <p:spPr>
          <a:xfrm rot="0">
            <a:off x="9577516" y="8443202"/>
            <a:ext cx="5696119" cy="656590"/>
          </a:xfrm>
          <a:prstGeom prst="rect">
            <a:avLst/>
          </a:prstGeom>
        </p:spPr>
        <p:txBody>
          <a:bodyPr anchor="t" rtlCol="false" tIns="0" lIns="0" bIns="0" rIns="0">
            <a:spAutoFit/>
          </a:bodyPr>
          <a:lstStyle/>
          <a:p>
            <a:pPr algn="l">
              <a:lnSpc>
                <a:spcPts val="2659"/>
              </a:lnSpc>
            </a:pPr>
            <a:r>
              <a:rPr lang="en-US" sz="1899">
                <a:solidFill>
                  <a:srgbClr val="2B2C30"/>
                </a:solidFill>
                <a:latin typeface="Public Sans"/>
                <a:ea typeface="Public Sans"/>
                <a:cs typeface="Public Sans"/>
                <a:sym typeface="Public Sans"/>
              </a:rPr>
              <a:t>Hidden message image file is created in the folder, with the name of “message_hidden_image”</a:t>
            </a:r>
          </a:p>
        </p:txBody>
      </p:sp>
      <p:sp>
        <p:nvSpPr>
          <p:cNvPr name="AutoShape 15" id="15"/>
          <p:cNvSpPr/>
          <p:nvPr/>
        </p:nvSpPr>
        <p:spPr>
          <a:xfrm flipV="true">
            <a:off x="403789" y="1078106"/>
            <a:ext cx="16230594" cy="38509"/>
          </a:xfrm>
          <a:prstGeom prst="line">
            <a:avLst/>
          </a:prstGeom>
          <a:ln cap="flat" w="9525">
            <a:solidFill>
              <a:srgbClr val="2B2C30"/>
            </a:solidFill>
            <a:prstDash val="solid"/>
            <a:headEnd type="none" len="sm" w="sm"/>
            <a:tailEnd type="none" len="sm" w="sm"/>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grpSp>
        <p:nvGrpSpPr>
          <p:cNvPr name="Group 2" id="2"/>
          <p:cNvGrpSpPr/>
          <p:nvPr/>
        </p:nvGrpSpPr>
        <p:grpSpPr>
          <a:xfrm rot="0">
            <a:off x="225637" y="1615087"/>
            <a:ext cx="8544736" cy="8220627"/>
            <a:chOff x="0" y="0"/>
            <a:chExt cx="2598961" cy="2500380"/>
          </a:xfrm>
        </p:grpSpPr>
        <p:sp>
          <p:nvSpPr>
            <p:cNvPr name="Freeform 3" id="3"/>
            <p:cNvSpPr/>
            <p:nvPr/>
          </p:nvSpPr>
          <p:spPr>
            <a:xfrm flipH="false" flipV="false" rot="0">
              <a:off x="0" y="0"/>
              <a:ext cx="2598961" cy="2500380"/>
            </a:xfrm>
            <a:custGeom>
              <a:avLst/>
              <a:gdLst/>
              <a:ahLst/>
              <a:cxnLst/>
              <a:rect r="r" b="b" t="t" l="l"/>
              <a:pathLst>
                <a:path h="2500380" w="2598961">
                  <a:moveTo>
                    <a:pt x="0" y="0"/>
                  </a:moveTo>
                  <a:lnTo>
                    <a:pt x="2598961" y="0"/>
                  </a:lnTo>
                  <a:lnTo>
                    <a:pt x="2598961" y="2500380"/>
                  </a:lnTo>
                  <a:lnTo>
                    <a:pt x="0" y="2500380"/>
                  </a:lnTo>
                  <a:close/>
                </a:path>
              </a:pathLst>
            </a:custGeom>
            <a:solidFill>
              <a:srgbClr val="000000">
                <a:alpha val="0"/>
              </a:srgbClr>
            </a:solidFill>
            <a:ln w="9525" cap="sq">
              <a:solidFill>
                <a:srgbClr val="2B2C30"/>
              </a:solidFill>
              <a:prstDash val="solid"/>
              <a:miter/>
            </a:ln>
          </p:spPr>
        </p:sp>
        <p:sp>
          <p:nvSpPr>
            <p:cNvPr name="TextBox 4" id="4"/>
            <p:cNvSpPr txBox="true"/>
            <p:nvPr/>
          </p:nvSpPr>
          <p:spPr>
            <a:xfrm>
              <a:off x="0" y="-28575"/>
              <a:ext cx="2598961" cy="2528955"/>
            </a:xfrm>
            <a:prstGeom prst="rect">
              <a:avLst/>
            </a:prstGeom>
          </p:spPr>
          <p:txBody>
            <a:bodyPr anchor="ctr" rtlCol="false" tIns="68580" lIns="68580" bIns="68580" rIns="68580"/>
            <a:lstStyle/>
            <a:p>
              <a:pPr algn="ctr">
                <a:lnSpc>
                  <a:spcPts val="1889"/>
                </a:lnSpc>
              </a:pPr>
            </a:p>
          </p:txBody>
        </p:sp>
      </p:grpSp>
      <p:grpSp>
        <p:nvGrpSpPr>
          <p:cNvPr name="Group 5" id="5"/>
          <p:cNvGrpSpPr/>
          <p:nvPr/>
        </p:nvGrpSpPr>
        <p:grpSpPr>
          <a:xfrm rot="0">
            <a:off x="9121550" y="1615087"/>
            <a:ext cx="8578408" cy="8220627"/>
            <a:chOff x="0" y="0"/>
            <a:chExt cx="2609203" cy="2500380"/>
          </a:xfrm>
        </p:grpSpPr>
        <p:sp>
          <p:nvSpPr>
            <p:cNvPr name="Freeform 6" id="6"/>
            <p:cNvSpPr/>
            <p:nvPr/>
          </p:nvSpPr>
          <p:spPr>
            <a:xfrm flipH="false" flipV="false" rot="0">
              <a:off x="0" y="0"/>
              <a:ext cx="2609203" cy="2500380"/>
            </a:xfrm>
            <a:custGeom>
              <a:avLst/>
              <a:gdLst/>
              <a:ahLst/>
              <a:cxnLst/>
              <a:rect r="r" b="b" t="t" l="l"/>
              <a:pathLst>
                <a:path h="2500380" w="2609203">
                  <a:moveTo>
                    <a:pt x="0" y="0"/>
                  </a:moveTo>
                  <a:lnTo>
                    <a:pt x="2609203" y="0"/>
                  </a:lnTo>
                  <a:lnTo>
                    <a:pt x="2609203" y="2500380"/>
                  </a:lnTo>
                  <a:lnTo>
                    <a:pt x="0" y="2500380"/>
                  </a:lnTo>
                  <a:close/>
                </a:path>
              </a:pathLst>
            </a:custGeom>
            <a:solidFill>
              <a:srgbClr val="000000">
                <a:alpha val="0"/>
              </a:srgbClr>
            </a:solidFill>
            <a:ln w="9525" cap="sq">
              <a:solidFill>
                <a:srgbClr val="2B2C30"/>
              </a:solidFill>
              <a:prstDash val="solid"/>
              <a:miter/>
            </a:ln>
          </p:spPr>
        </p:sp>
        <p:sp>
          <p:nvSpPr>
            <p:cNvPr name="TextBox 7" id="7"/>
            <p:cNvSpPr txBox="true"/>
            <p:nvPr/>
          </p:nvSpPr>
          <p:spPr>
            <a:xfrm>
              <a:off x="0" y="-28575"/>
              <a:ext cx="2609203" cy="2528955"/>
            </a:xfrm>
            <a:prstGeom prst="rect">
              <a:avLst/>
            </a:prstGeom>
          </p:spPr>
          <p:txBody>
            <a:bodyPr anchor="ctr" rtlCol="false" tIns="68580" lIns="68580" bIns="68580" rIns="68580"/>
            <a:lstStyle/>
            <a:p>
              <a:pPr algn="ctr">
                <a:lnSpc>
                  <a:spcPts val="1889"/>
                </a:lnSpc>
              </a:pPr>
            </a:p>
          </p:txBody>
        </p:sp>
      </p:grpSp>
      <p:sp>
        <p:nvSpPr>
          <p:cNvPr name="Freeform 8" id="8"/>
          <p:cNvSpPr/>
          <p:nvPr/>
        </p:nvSpPr>
        <p:spPr>
          <a:xfrm flipH="false" flipV="false" rot="0">
            <a:off x="468189" y="2636247"/>
            <a:ext cx="8058448" cy="5277930"/>
          </a:xfrm>
          <a:custGeom>
            <a:avLst/>
            <a:gdLst/>
            <a:ahLst/>
            <a:cxnLst/>
            <a:rect r="r" b="b" t="t" l="l"/>
            <a:pathLst>
              <a:path h="5277930" w="8058448">
                <a:moveTo>
                  <a:pt x="0" y="0"/>
                </a:moveTo>
                <a:lnTo>
                  <a:pt x="8058448" y="0"/>
                </a:lnTo>
                <a:lnTo>
                  <a:pt x="8058448" y="5277930"/>
                </a:lnTo>
                <a:lnTo>
                  <a:pt x="0" y="5277930"/>
                </a:lnTo>
                <a:lnTo>
                  <a:pt x="0" y="0"/>
                </a:lnTo>
                <a:close/>
              </a:path>
            </a:pathLst>
          </a:custGeom>
          <a:blipFill>
            <a:blip r:embed="rId2"/>
            <a:stretch>
              <a:fillRect l="0" t="0" r="0" b="0"/>
            </a:stretch>
          </a:blipFill>
        </p:spPr>
      </p:sp>
      <p:sp>
        <p:nvSpPr>
          <p:cNvPr name="Freeform 9" id="9"/>
          <p:cNvSpPr/>
          <p:nvPr/>
        </p:nvSpPr>
        <p:spPr>
          <a:xfrm flipH="false" flipV="false" rot="0">
            <a:off x="9544695" y="2636247"/>
            <a:ext cx="7676343" cy="5809722"/>
          </a:xfrm>
          <a:custGeom>
            <a:avLst/>
            <a:gdLst/>
            <a:ahLst/>
            <a:cxnLst/>
            <a:rect r="r" b="b" t="t" l="l"/>
            <a:pathLst>
              <a:path h="5809722" w="7676343">
                <a:moveTo>
                  <a:pt x="0" y="0"/>
                </a:moveTo>
                <a:lnTo>
                  <a:pt x="7676343" y="0"/>
                </a:lnTo>
                <a:lnTo>
                  <a:pt x="7676343" y="5809722"/>
                </a:lnTo>
                <a:lnTo>
                  <a:pt x="0" y="5809722"/>
                </a:lnTo>
                <a:lnTo>
                  <a:pt x="0" y="0"/>
                </a:lnTo>
                <a:close/>
              </a:path>
            </a:pathLst>
          </a:custGeom>
          <a:blipFill>
            <a:blip r:embed="rId3"/>
            <a:stretch>
              <a:fillRect l="0" t="0" r="0" b="0"/>
            </a:stretch>
          </a:blipFill>
        </p:spPr>
      </p:sp>
      <p:sp>
        <p:nvSpPr>
          <p:cNvPr name="TextBox 10" id="10"/>
          <p:cNvSpPr txBox="true"/>
          <p:nvPr/>
        </p:nvSpPr>
        <p:spPr>
          <a:xfrm rot="0">
            <a:off x="9279285" y="1796909"/>
            <a:ext cx="8262936" cy="548417"/>
          </a:xfrm>
          <a:prstGeom prst="rect">
            <a:avLst/>
          </a:prstGeom>
        </p:spPr>
        <p:txBody>
          <a:bodyPr anchor="t" rtlCol="false" tIns="0" lIns="0" bIns="0" rIns="0">
            <a:spAutoFit/>
          </a:bodyPr>
          <a:lstStyle/>
          <a:p>
            <a:pPr algn="l">
              <a:lnSpc>
                <a:spcPts val="4461"/>
              </a:lnSpc>
            </a:pPr>
            <a:r>
              <a:rPr lang="en-US" sz="3186" b="true">
                <a:solidFill>
                  <a:srgbClr val="2B2C30"/>
                </a:solidFill>
                <a:latin typeface="Public Sans Bold"/>
                <a:ea typeface="Public Sans Bold"/>
                <a:cs typeface="Public Sans Bold"/>
                <a:sym typeface="Public Sans Bold"/>
              </a:rPr>
              <a:t>4)  VIEW HIDDEN MESSAGE FROM FILE</a:t>
            </a:r>
          </a:p>
        </p:txBody>
      </p:sp>
      <p:sp>
        <p:nvSpPr>
          <p:cNvPr name="TextBox 11" id="11"/>
          <p:cNvSpPr txBox="true"/>
          <p:nvPr/>
        </p:nvSpPr>
        <p:spPr>
          <a:xfrm rot="0">
            <a:off x="411337" y="377601"/>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RESULTS</a:t>
            </a:r>
          </a:p>
        </p:txBody>
      </p:sp>
      <p:sp>
        <p:nvSpPr>
          <p:cNvPr name="TextBox 12" id="12"/>
          <p:cNvSpPr txBox="true"/>
          <p:nvPr/>
        </p:nvSpPr>
        <p:spPr>
          <a:xfrm rot="0">
            <a:off x="468189" y="1796909"/>
            <a:ext cx="6105234" cy="548417"/>
          </a:xfrm>
          <a:prstGeom prst="rect">
            <a:avLst/>
          </a:prstGeom>
        </p:spPr>
        <p:txBody>
          <a:bodyPr anchor="t" rtlCol="false" tIns="0" lIns="0" bIns="0" rIns="0">
            <a:spAutoFit/>
          </a:bodyPr>
          <a:lstStyle/>
          <a:p>
            <a:pPr algn="l">
              <a:lnSpc>
                <a:spcPts val="4461"/>
              </a:lnSpc>
            </a:pPr>
            <a:r>
              <a:rPr lang="en-US" sz="3186" b="true">
                <a:solidFill>
                  <a:srgbClr val="2B2C30"/>
                </a:solidFill>
                <a:latin typeface="Public Sans Bold"/>
                <a:ea typeface="Public Sans Bold"/>
                <a:cs typeface="Public Sans Bold"/>
                <a:sym typeface="Public Sans Bold"/>
              </a:rPr>
              <a:t>3) OPEN HIDDEN MESSAGE </a:t>
            </a:r>
          </a:p>
        </p:txBody>
      </p:sp>
      <p:sp>
        <p:nvSpPr>
          <p:cNvPr name="TextBox 13" id="13"/>
          <p:cNvSpPr txBox="true"/>
          <p:nvPr/>
        </p:nvSpPr>
        <p:spPr>
          <a:xfrm rot="0">
            <a:off x="468189" y="8268335"/>
            <a:ext cx="5696119" cy="989965"/>
          </a:xfrm>
          <a:prstGeom prst="rect">
            <a:avLst/>
          </a:prstGeom>
        </p:spPr>
        <p:txBody>
          <a:bodyPr anchor="t" rtlCol="false" tIns="0" lIns="0" bIns="0" rIns="0">
            <a:spAutoFit/>
          </a:bodyPr>
          <a:lstStyle/>
          <a:p>
            <a:pPr algn="l">
              <a:lnSpc>
                <a:spcPts val="2659"/>
              </a:lnSpc>
            </a:pPr>
            <a:r>
              <a:rPr lang="en-US" sz="1899">
                <a:solidFill>
                  <a:srgbClr val="2B2C30"/>
                </a:solidFill>
                <a:latin typeface="Public Sans"/>
                <a:ea typeface="Public Sans"/>
                <a:cs typeface="Public Sans"/>
                <a:sym typeface="Public Sans"/>
              </a:rPr>
              <a:t>1) Open the image from files. </a:t>
            </a:r>
          </a:p>
          <a:p>
            <a:pPr algn="l">
              <a:lnSpc>
                <a:spcPts val="2659"/>
              </a:lnSpc>
            </a:pPr>
            <a:r>
              <a:rPr lang="en-US" sz="1899">
                <a:solidFill>
                  <a:srgbClr val="2B2C30"/>
                </a:solidFill>
                <a:latin typeface="Public Sans"/>
                <a:ea typeface="Public Sans"/>
                <a:cs typeface="Public Sans"/>
                <a:sym typeface="Public Sans"/>
              </a:rPr>
              <a:t>2) Select the “message_hidden_image” file</a:t>
            </a:r>
          </a:p>
          <a:p>
            <a:pPr algn="l">
              <a:lnSpc>
                <a:spcPts val="2659"/>
              </a:lnSpc>
            </a:pPr>
            <a:r>
              <a:rPr lang="en-US" sz="1899">
                <a:solidFill>
                  <a:srgbClr val="2B2C30"/>
                </a:solidFill>
                <a:latin typeface="Public Sans"/>
                <a:ea typeface="Public Sans"/>
                <a:cs typeface="Public Sans"/>
                <a:sym typeface="Public Sans"/>
              </a:rPr>
              <a:t>3) Click on Open</a:t>
            </a:r>
          </a:p>
        </p:txBody>
      </p:sp>
      <p:sp>
        <p:nvSpPr>
          <p:cNvPr name="TextBox 14" id="14"/>
          <p:cNvSpPr txBox="true"/>
          <p:nvPr/>
        </p:nvSpPr>
        <p:spPr>
          <a:xfrm rot="0">
            <a:off x="9544695" y="8601710"/>
            <a:ext cx="5696119" cy="656590"/>
          </a:xfrm>
          <a:prstGeom prst="rect">
            <a:avLst/>
          </a:prstGeom>
        </p:spPr>
        <p:txBody>
          <a:bodyPr anchor="t" rtlCol="false" tIns="0" lIns="0" bIns="0" rIns="0">
            <a:spAutoFit/>
          </a:bodyPr>
          <a:lstStyle/>
          <a:p>
            <a:pPr algn="l">
              <a:lnSpc>
                <a:spcPts val="2659"/>
              </a:lnSpc>
            </a:pPr>
            <a:r>
              <a:rPr lang="en-US" sz="1899">
                <a:solidFill>
                  <a:srgbClr val="2B2C30"/>
                </a:solidFill>
                <a:latin typeface="Public Sans"/>
                <a:ea typeface="Public Sans"/>
                <a:cs typeface="Public Sans"/>
                <a:sym typeface="Public Sans"/>
              </a:rPr>
              <a:t>1) Click on “Show data”</a:t>
            </a:r>
          </a:p>
          <a:p>
            <a:pPr algn="l">
              <a:lnSpc>
                <a:spcPts val="2659"/>
              </a:lnSpc>
            </a:pPr>
            <a:r>
              <a:rPr lang="en-US" sz="1899">
                <a:solidFill>
                  <a:srgbClr val="2B2C30"/>
                </a:solidFill>
                <a:latin typeface="Public Sans"/>
                <a:ea typeface="Public Sans"/>
                <a:cs typeface="Public Sans"/>
                <a:sym typeface="Public Sans"/>
              </a:rPr>
              <a:t>2) View the hidden message in the image</a:t>
            </a:r>
          </a:p>
        </p:txBody>
      </p:sp>
      <p:sp>
        <p:nvSpPr>
          <p:cNvPr name="AutoShape 15" id="15"/>
          <p:cNvSpPr/>
          <p:nvPr/>
        </p:nvSpPr>
        <p:spPr>
          <a:xfrm flipV="true">
            <a:off x="225648" y="1033462"/>
            <a:ext cx="16230594" cy="38509"/>
          </a:xfrm>
          <a:prstGeom prst="line">
            <a:avLst/>
          </a:prstGeom>
          <a:ln cap="flat" w="9525">
            <a:solidFill>
              <a:srgbClr val="2B2C30"/>
            </a:solidFill>
            <a:prstDash val="solid"/>
            <a:headEnd type="none" len="sm" w="sm"/>
            <a:tailEnd type="none" len="sm" w="sm"/>
          </a:ln>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Freeform 2" id="2"/>
          <p:cNvSpPr/>
          <p:nvPr/>
        </p:nvSpPr>
        <p:spPr>
          <a:xfrm flipH="false" flipV="false" rot="0">
            <a:off x="16991420" y="8894528"/>
            <a:ext cx="535737" cy="727544"/>
          </a:xfrm>
          <a:custGeom>
            <a:avLst/>
            <a:gdLst/>
            <a:ahLst/>
            <a:cxnLst/>
            <a:rect r="r" b="b" t="t" l="l"/>
            <a:pathLst>
              <a:path h="727544" w="535737">
                <a:moveTo>
                  <a:pt x="0" y="0"/>
                </a:moveTo>
                <a:lnTo>
                  <a:pt x="535737" y="0"/>
                </a:lnTo>
                <a:lnTo>
                  <a:pt x="535737" y="727544"/>
                </a:lnTo>
                <a:lnTo>
                  <a:pt x="0" y="7275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994579" y="2006958"/>
            <a:ext cx="16242893" cy="6646545"/>
          </a:xfrm>
          <a:prstGeom prst="rect">
            <a:avLst/>
          </a:prstGeom>
        </p:spPr>
        <p:txBody>
          <a:bodyPr anchor="t" rtlCol="false" tIns="0" lIns="0" bIns="0" rIns="0">
            <a:spAutoFit/>
          </a:bodyPr>
          <a:lstStyle/>
          <a:p>
            <a:pPr algn="l">
              <a:lnSpc>
                <a:spcPts val="3120"/>
              </a:lnSpc>
            </a:pPr>
          </a:p>
          <a:p>
            <a:pPr algn="l" marL="518160" indent="-259080" lvl="1">
              <a:lnSpc>
                <a:spcPts val="3120"/>
              </a:lnSpc>
              <a:buFont typeface="Arial"/>
              <a:buChar char="•"/>
            </a:pPr>
            <a:r>
              <a:rPr lang="en-US" sz="2400" spc="12">
                <a:solidFill>
                  <a:srgbClr val="2B2C30"/>
                </a:solidFill>
                <a:latin typeface="Public Sans"/>
                <a:ea typeface="Public Sans"/>
                <a:cs typeface="Public Sans"/>
                <a:sym typeface="Public Sans"/>
              </a:rPr>
              <a:t>Image Steganography is a powerful technique for secure and covert communication, allowing users to embed hidden messages within digital images without altering their visual appearance. This project successfully demonstrates the use of Least Significant Bit (LSB) steganography, providing an efficient and user-friendly approach to hiding and retrieving sensitive information.</a:t>
            </a:r>
          </a:p>
          <a:p>
            <a:pPr algn="l">
              <a:lnSpc>
                <a:spcPts val="3120"/>
              </a:lnSpc>
            </a:pPr>
          </a:p>
          <a:p>
            <a:pPr algn="l" marL="518160" indent="-259080" lvl="1">
              <a:lnSpc>
                <a:spcPts val="3120"/>
              </a:lnSpc>
              <a:buFont typeface="Arial"/>
              <a:buChar char="•"/>
            </a:pPr>
            <a:r>
              <a:rPr lang="en-US" sz="2400" spc="12">
                <a:solidFill>
                  <a:srgbClr val="2B2C30"/>
                </a:solidFill>
                <a:latin typeface="Public Sans"/>
                <a:ea typeface="Public Sans"/>
                <a:cs typeface="Public Sans"/>
                <a:sym typeface="Public Sans"/>
              </a:rPr>
              <a:t>With a graphical user interface (GUI) built using Tkinter, this application ensures ease of use while maintaining the integrity of both the message and the image. By leveraging Python libraries such as Pillow and Stegano, the project achieves seamless image processing and data encryption.</a:t>
            </a:r>
          </a:p>
          <a:p>
            <a:pPr algn="l">
              <a:lnSpc>
                <a:spcPts val="3120"/>
              </a:lnSpc>
            </a:pPr>
          </a:p>
          <a:p>
            <a:pPr algn="l" marL="518160" indent="-259080" lvl="1">
              <a:lnSpc>
                <a:spcPts val="3120"/>
              </a:lnSpc>
              <a:buFont typeface="Arial"/>
              <a:buChar char="•"/>
            </a:pPr>
            <a:r>
              <a:rPr lang="en-US" sz="2400" spc="12">
                <a:solidFill>
                  <a:srgbClr val="2B2C30"/>
                </a:solidFill>
                <a:latin typeface="Public Sans"/>
                <a:ea typeface="Public Sans"/>
                <a:cs typeface="Public Sans"/>
                <a:sym typeface="Public Sans"/>
              </a:rPr>
              <a:t>This project has broad applications in cybersecurity, secure communication, and digital watermarking. Future enhancements could include password protection, support for multiple file formats, and advanced cryptographic techniques, making it even more robust and secure. </a:t>
            </a:r>
          </a:p>
          <a:p>
            <a:pPr algn="l">
              <a:lnSpc>
                <a:spcPts val="3120"/>
              </a:lnSpc>
            </a:pPr>
          </a:p>
          <a:p>
            <a:pPr algn="l" marL="518160" indent="-259080" lvl="1">
              <a:lnSpc>
                <a:spcPts val="3120"/>
              </a:lnSpc>
              <a:buFont typeface="Arial"/>
              <a:buChar char="•"/>
            </a:pPr>
            <a:r>
              <a:rPr lang="en-US" sz="2400" spc="12">
                <a:solidFill>
                  <a:srgbClr val="2B2C30"/>
                </a:solidFill>
                <a:latin typeface="Public Sans"/>
                <a:ea typeface="Public Sans"/>
                <a:cs typeface="Public Sans"/>
                <a:sym typeface="Public Sans"/>
              </a:rPr>
              <a:t>Ultimately, this steganography tool serves as an innovative solution for data privacy and information security in the digital age. 🔐</a:t>
            </a:r>
          </a:p>
          <a:p>
            <a:pPr algn="l">
              <a:lnSpc>
                <a:spcPts val="3120"/>
              </a:lnSpc>
            </a:pPr>
          </a:p>
        </p:txBody>
      </p:sp>
      <p:sp>
        <p:nvSpPr>
          <p:cNvPr name="TextBox 4" id="4"/>
          <p:cNvSpPr txBox="true"/>
          <p:nvPr/>
        </p:nvSpPr>
        <p:spPr>
          <a:xfrm rot="0">
            <a:off x="1006871"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CONCLUSION</a:t>
            </a:r>
          </a:p>
        </p:txBody>
      </p:sp>
      <p:sp>
        <p:nvSpPr>
          <p:cNvPr name="AutoShape 5" id="5"/>
          <p:cNvSpPr/>
          <p:nvPr/>
        </p:nvSpPr>
        <p:spPr>
          <a:xfrm flipV="true">
            <a:off x="1028695" y="1760761"/>
            <a:ext cx="16230594" cy="38509"/>
          </a:xfrm>
          <a:prstGeom prst="line">
            <a:avLst/>
          </a:prstGeom>
          <a:ln cap="flat" w="9525">
            <a:solidFill>
              <a:srgbClr val="2B2C30"/>
            </a:solidFill>
            <a:prstDash val="solid"/>
            <a:headEnd type="none" len="sm" w="sm"/>
            <a:tailEnd type="none" len="sm" w="sm"/>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Freeform 2" id="2"/>
          <p:cNvSpPr/>
          <p:nvPr/>
        </p:nvSpPr>
        <p:spPr>
          <a:xfrm flipH="false" flipV="false" rot="0">
            <a:off x="16473819" y="8352902"/>
            <a:ext cx="535737" cy="727544"/>
          </a:xfrm>
          <a:custGeom>
            <a:avLst/>
            <a:gdLst/>
            <a:ahLst/>
            <a:cxnLst/>
            <a:rect r="r" b="b" t="t" l="l"/>
            <a:pathLst>
              <a:path h="727544" w="535737">
                <a:moveTo>
                  <a:pt x="0" y="0"/>
                </a:moveTo>
                <a:lnTo>
                  <a:pt x="535737" y="0"/>
                </a:lnTo>
                <a:lnTo>
                  <a:pt x="535737" y="727544"/>
                </a:lnTo>
                <a:lnTo>
                  <a:pt x="0" y="7275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2322" y="1351130"/>
            <a:ext cx="1759784" cy="1759784"/>
          </a:xfrm>
          <a:custGeom>
            <a:avLst/>
            <a:gdLst/>
            <a:ahLst/>
            <a:cxnLst/>
            <a:rect r="r" b="b" t="t" l="l"/>
            <a:pathLst>
              <a:path h="1759784" w="1759784">
                <a:moveTo>
                  <a:pt x="0" y="0"/>
                </a:moveTo>
                <a:lnTo>
                  <a:pt x="1759784" y="0"/>
                </a:lnTo>
                <a:lnTo>
                  <a:pt x="1759784" y="1759785"/>
                </a:lnTo>
                <a:lnTo>
                  <a:pt x="0" y="17597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060285">
            <a:off x="1168385" y="2972093"/>
            <a:ext cx="1957292" cy="2895423"/>
          </a:xfrm>
          <a:custGeom>
            <a:avLst/>
            <a:gdLst/>
            <a:ahLst/>
            <a:cxnLst/>
            <a:rect r="r" b="b" t="t" l="l"/>
            <a:pathLst>
              <a:path h="2895423" w="1957292">
                <a:moveTo>
                  <a:pt x="0" y="0"/>
                </a:moveTo>
                <a:lnTo>
                  <a:pt x="1957292" y="0"/>
                </a:lnTo>
                <a:lnTo>
                  <a:pt x="1957292" y="2895423"/>
                </a:lnTo>
                <a:lnTo>
                  <a:pt x="0" y="28954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413938" y="6280021"/>
            <a:ext cx="2800425" cy="2800425"/>
          </a:xfrm>
          <a:custGeom>
            <a:avLst/>
            <a:gdLst/>
            <a:ahLst/>
            <a:cxnLst/>
            <a:rect r="r" b="b" t="t" l="l"/>
            <a:pathLst>
              <a:path h="2800425" w="2800425">
                <a:moveTo>
                  <a:pt x="0" y="0"/>
                </a:moveTo>
                <a:lnTo>
                  <a:pt x="2800425" y="0"/>
                </a:lnTo>
                <a:lnTo>
                  <a:pt x="2800425" y="2800425"/>
                </a:lnTo>
                <a:lnTo>
                  <a:pt x="0" y="280042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2704726" y="971550"/>
            <a:ext cx="10208659" cy="1961510"/>
          </a:xfrm>
          <a:prstGeom prst="rect">
            <a:avLst/>
          </a:prstGeom>
        </p:spPr>
        <p:txBody>
          <a:bodyPr anchor="t" rtlCol="false" tIns="0" lIns="0" bIns="0" rIns="0">
            <a:spAutoFit/>
          </a:bodyPr>
          <a:lstStyle/>
          <a:p>
            <a:pPr algn="l">
              <a:lnSpc>
                <a:spcPts val="7865"/>
              </a:lnSpc>
            </a:pPr>
            <a:r>
              <a:rPr lang="en-US" sz="6050" spc="30">
                <a:solidFill>
                  <a:srgbClr val="2B2C30"/>
                </a:solidFill>
                <a:latin typeface="Playfair Display"/>
                <a:ea typeface="Playfair Display"/>
                <a:cs typeface="Playfair Display"/>
                <a:sym typeface="Playfair Display"/>
              </a:rPr>
              <a:t>GITHUB LINK FOR IMAGE STEGANOGRAPHY PROJECT</a:t>
            </a:r>
          </a:p>
        </p:txBody>
      </p:sp>
      <p:sp>
        <p:nvSpPr>
          <p:cNvPr name="TextBox 7" id="7"/>
          <p:cNvSpPr txBox="true"/>
          <p:nvPr/>
        </p:nvSpPr>
        <p:spPr>
          <a:xfrm rot="0">
            <a:off x="2704726" y="5702425"/>
            <a:ext cx="10887992" cy="464818"/>
          </a:xfrm>
          <a:prstGeom prst="rect">
            <a:avLst/>
          </a:prstGeom>
        </p:spPr>
        <p:txBody>
          <a:bodyPr anchor="t" rtlCol="false" tIns="0" lIns="0" bIns="0" rIns="0">
            <a:spAutoFit/>
          </a:bodyPr>
          <a:lstStyle/>
          <a:p>
            <a:pPr algn="l">
              <a:lnSpc>
                <a:spcPts val="3780"/>
              </a:lnSpc>
            </a:pPr>
            <a:r>
              <a:rPr lang="en-US" sz="2700" u="sng">
                <a:solidFill>
                  <a:srgbClr val="518AD0"/>
                </a:solidFill>
                <a:latin typeface="Public Sans"/>
                <a:ea typeface="Public Sans"/>
                <a:cs typeface="Public Sans"/>
                <a:sym typeface="Public Sans"/>
                <a:hlinkClick r:id="rId10" tooltip="https://github.com/Jenny25G/Image-Steganography-using-Python"/>
              </a:rPr>
              <a:t>https://github.com/Jenny25G/Image-Steganography-using-Python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Freeform 2" id="2"/>
          <p:cNvSpPr/>
          <p:nvPr/>
        </p:nvSpPr>
        <p:spPr>
          <a:xfrm flipH="false" flipV="false" rot="0">
            <a:off x="17112013" y="8391542"/>
            <a:ext cx="535737" cy="727544"/>
          </a:xfrm>
          <a:custGeom>
            <a:avLst/>
            <a:gdLst/>
            <a:ahLst/>
            <a:cxnLst/>
            <a:rect r="r" b="b" t="t" l="l"/>
            <a:pathLst>
              <a:path h="727544" w="535737">
                <a:moveTo>
                  <a:pt x="0" y="0"/>
                </a:moveTo>
                <a:lnTo>
                  <a:pt x="535737" y="0"/>
                </a:lnTo>
                <a:lnTo>
                  <a:pt x="535737" y="727544"/>
                </a:lnTo>
                <a:lnTo>
                  <a:pt x="0" y="7275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881413" y="660288"/>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FUTURE SCOPE</a:t>
            </a:r>
          </a:p>
        </p:txBody>
      </p:sp>
      <p:grpSp>
        <p:nvGrpSpPr>
          <p:cNvPr name="Group 4" id="4"/>
          <p:cNvGrpSpPr/>
          <p:nvPr/>
        </p:nvGrpSpPr>
        <p:grpSpPr>
          <a:xfrm rot="0">
            <a:off x="9722567" y="1028700"/>
            <a:ext cx="7773804" cy="5063759"/>
            <a:chOff x="0" y="0"/>
            <a:chExt cx="2364475" cy="1540189"/>
          </a:xfrm>
        </p:grpSpPr>
        <p:sp>
          <p:nvSpPr>
            <p:cNvPr name="Freeform 5" id="5"/>
            <p:cNvSpPr/>
            <p:nvPr/>
          </p:nvSpPr>
          <p:spPr>
            <a:xfrm flipH="false" flipV="false" rot="0">
              <a:off x="0" y="0"/>
              <a:ext cx="2364475" cy="1540190"/>
            </a:xfrm>
            <a:custGeom>
              <a:avLst/>
              <a:gdLst/>
              <a:ahLst/>
              <a:cxnLst/>
              <a:rect r="r" b="b" t="t" l="l"/>
              <a:pathLst>
                <a:path h="1540190" w="2364475">
                  <a:moveTo>
                    <a:pt x="0" y="0"/>
                  </a:moveTo>
                  <a:lnTo>
                    <a:pt x="2364475" y="0"/>
                  </a:lnTo>
                  <a:lnTo>
                    <a:pt x="2364475" y="1540190"/>
                  </a:lnTo>
                  <a:lnTo>
                    <a:pt x="0" y="1540190"/>
                  </a:lnTo>
                  <a:close/>
                </a:path>
              </a:pathLst>
            </a:custGeom>
            <a:solidFill>
              <a:srgbClr val="000000">
                <a:alpha val="0"/>
              </a:srgbClr>
            </a:solidFill>
            <a:ln w="9525" cap="sq">
              <a:solidFill>
                <a:srgbClr val="2B2C30"/>
              </a:solidFill>
              <a:prstDash val="solid"/>
              <a:miter/>
            </a:ln>
          </p:spPr>
        </p:sp>
        <p:sp>
          <p:nvSpPr>
            <p:cNvPr name="TextBox 6" id="6"/>
            <p:cNvSpPr txBox="true"/>
            <p:nvPr/>
          </p:nvSpPr>
          <p:spPr>
            <a:xfrm>
              <a:off x="0" y="-28575"/>
              <a:ext cx="2364475" cy="1568764"/>
            </a:xfrm>
            <a:prstGeom prst="rect">
              <a:avLst/>
            </a:prstGeom>
          </p:spPr>
          <p:txBody>
            <a:bodyPr anchor="ctr" rtlCol="false" tIns="68580" lIns="68580" bIns="68580" rIns="68580"/>
            <a:lstStyle/>
            <a:p>
              <a:pPr algn="ctr">
                <a:lnSpc>
                  <a:spcPts val="1889"/>
                </a:lnSpc>
              </a:pPr>
            </a:p>
          </p:txBody>
        </p:sp>
      </p:grpSp>
      <p:grpSp>
        <p:nvGrpSpPr>
          <p:cNvPr name="Group 7" id="7"/>
          <p:cNvGrpSpPr/>
          <p:nvPr/>
        </p:nvGrpSpPr>
        <p:grpSpPr>
          <a:xfrm rot="0">
            <a:off x="10333265" y="1402038"/>
            <a:ext cx="6552408" cy="4317083"/>
            <a:chOff x="0" y="0"/>
            <a:chExt cx="8736544" cy="5756111"/>
          </a:xfrm>
        </p:grpSpPr>
        <p:pic>
          <p:nvPicPr>
            <p:cNvPr name="Picture 8" id="8"/>
            <p:cNvPicPr>
              <a:picLocks noChangeAspect="true"/>
            </p:cNvPicPr>
            <p:nvPr/>
          </p:nvPicPr>
          <p:blipFill>
            <a:blip r:embed="rId4"/>
            <a:srcRect l="757" t="0" r="757" b="0"/>
            <a:stretch>
              <a:fillRect/>
            </a:stretch>
          </p:blipFill>
          <p:spPr>
            <a:xfrm flipH="false" flipV="false">
              <a:off x="0" y="0"/>
              <a:ext cx="8736544" cy="5756111"/>
            </a:xfrm>
            <a:prstGeom prst="rect">
              <a:avLst/>
            </a:prstGeom>
          </p:spPr>
        </p:pic>
      </p:grpSp>
      <p:sp>
        <p:nvSpPr>
          <p:cNvPr name="AutoShape 9" id="9"/>
          <p:cNvSpPr/>
          <p:nvPr/>
        </p:nvSpPr>
        <p:spPr>
          <a:xfrm flipV="true">
            <a:off x="-7086605" y="1406801"/>
            <a:ext cx="16230594" cy="38509"/>
          </a:xfrm>
          <a:prstGeom prst="line">
            <a:avLst/>
          </a:prstGeom>
          <a:ln cap="flat" w="9525">
            <a:solidFill>
              <a:srgbClr val="2B2C30"/>
            </a:solidFill>
            <a:prstDash val="solid"/>
            <a:headEnd type="none" len="sm" w="sm"/>
            <a:tailEnd type="none" len="sm" w="sm"/>
          </a:ln>
        </p:spPr>
      </p:sp>
      <p:grpSp>
        <p:nvGrpSpPr>
          <p:cNvPr name="Group 10" id="10"/>
          <p:cNvGrpSpPr/>
          <p:nvPr/>
        </p:nvGrpSpPr>
        <p:grpSpPr>
          <a:xfrm rot="0">
            <a:off x="11978848" y="7105348"/>
            <a:ext cx="4815655" cy="4261945"/>
            <a:chOff x="0" y="0"/>
            <a:chExt cx="1464726" cy="1296310"/>
          </a:xfrm>
        </p:grpSpPr>
        <p:sp>
          <p:nvSpPr>
            <p:cNvPr name="Freeform 11" id="11"/>
            <p:cNvSpPr/>
            <p:nvPr/>
          </p:nvSpPr>
          <p:spPr>
            <a:xfrm flipH="false" flipV="false" rot="0">
              <a:off x="0" y="0"/>
              <a:ext cx="1464726" cy="1296310"/>
            </a:xfrm>
            <a:custGeom>
              <a:avLst/>
              <a:gdLst/>
              <a:ahLst/>
              <a:cxnLst/>
              <a:rect r="r" b="b" t="t" l="l"/>
              <a:pathLst>
                <a:path h="1296310" w="1464726">
                  <a:moveTo>
                    <a:pt x="0" y="0"/>
                  </a:moveTo>
                  <a:lnTo>
                    <a:pt x="1464726" y="0"/>
                  </a:lnTo>
                  <a:lnTo>
                    <a:pt x="1464726" y="1296310"/>
                  </a:lnTo>
                  <a:lnTo>
                    <a:pt x="0" y="1296310"/>
                  </a:lnTo>
                  <a:close/>
                </a:path>
              </a:pathLst>
            </a:custGeom>
            <a:solidFill>
              <a:srgbClr val="000000">
                <a:alpha val="0"/>
              </a:srgbClr>
            </a:solidFill>
            <a:ln w="9525" cap="sq">
              <a:solidFill>
                <a:srgbClr val="2B2C30"/>
              </a:solidFill>
              <a:prstDash val="solid"/>
              <a:miter/>
            </a:ln>
          </p:spPr>
        </p:sp>
        <p:sp>
          <p:nvSpPr>
            <p:cNvPr name="TextBox 12" id="12"/>
            <p:cNvSpPr txBox="true"/>
            <p:nvPr/>
          </p:nvSpPr>
          <p:spPr>
            <a:xfrm>
              <a:off x="0" y="-28575"/>
              <a:ext cx="1464726" cy="1324885"/>
            </a:xfrm>
            <a:prstGeom prst="rect">
              <a:avLst/>
            </a:prstGeom>
          </p:spPr>
          <p:txBody>
            <a:bodyPr anchor="ctr" rtlCol="false" tIns="68580" lIns="68580" bIns="68580" rIns="68580"/>
            <a:lstStyle/>
            <a:p>
              <a:pPr algn="ctr">
                <a:lnSpc>
                  <a:spcPts val="1889"/>
                </a:lnSpc>
              </a:pPr>
            </a:p>
          </p:txBody>
        </p:sp>
      </p:grpSp>
      <p:grpSp>
        <p:nvGrpSpPr>
          <p:cNvPr name="Group 13" id="13"/>
          <p:cNvGrpSpPr/>
          <p:nvPr/>
        </p:nvGrpSpPr>
        <p:grpSpPr>
          <a:xfrm rot="0">
            <a:off x="12368465" y="7505398"/>
            <a:ext cx="4036420" cy="2507697"/>
            <a:chOff x="0" y="0"/>
            <a:chExt cx="5381893" cy="3343596"/>
          </a:xfrm>
        </p:grpSpPr>
        <p:pic>
          <p:nvPicPr>
            <p:cNvPr name="Picture 14" id="14"/>
            <p:cNvPicPr>
              <a:picLocks noChangeAspect="true"/>
            </p:cNvPicPr>
            <p:nvPr/>
          </p:nvPicPr>
          <p:blipFill>
            <a:blip r:embed="rId5"/>
            <a:srcRect l="6472" t="0" r="6472" b="0"/>
            <a:stretch>
              <a:fillRect/>
            </a:stretch>
          </p:blipFill>
          <p:spPr>
            <a:xfrm flipH="false" flipV="false">
              <a:off x="0" y="0"/>
              <a:ext cx="5381893" cy="3343596"/>
            </a:xfrm>
            <a:prstGeom prst="rect">
              <a:avLst/>
            </a:prstGeom>
          </p:spPr>
        </p:pic>
      </p:grpSp>
      <p:sp>
        <p:nvSpPr>
          <p:cNvPr name="Freeform 15" id="15"/>
          <p:cNvSpPr/>
          <p:nvPr/>
        </p:nvSpPr>
        <p:spPr>
          <a:xfrm flipH="false" flipV="false" rot="0">
            <a:off x="1608368" y="5307398"/>
            <a:ext cx="862657" cy="823445"/>
          </a:xfrm>
          <a:custGeom>
            <a:avLst/>
            <a:gdLst/>
            <a:ahLst/>
            <a:cxnLst/>
            <a:rect r="r" b="b" t="t" l="l"/>
            <a:pathLst>
              <a:path h="823445" w="862657">
                <a:moveTo>
                  <a:pt x="0" y="0"/>
                </a:moveTo>
                <a:lnTo>
                  <a:pt x="862658" y="0"/>
                </a:lnTo>
                <a:lnTo>
                  <a:pt x="862658" y="823446"/>
                </a:lnTo>
                <a:lnTo>
                  <a:pt x="0" y="8234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0">
            <a:off x="6939939" y="2763603"/>
            <a:ext cx="504048" cy="640245"/>
          </a:xfrm>
          <a:custGeom>
            <a:avLst/>
            <a:gdLst/>
            <a:ahLst/>
            <a:cxnLst/>
            <a:rect r="r" b="b" t="t" l="l"/>
            <a:pathLst>
              <a:path h="640245" w="504048">
                <a:moveTo>
                  <a:pt x="0" y="0"/>
                </a:moveTo>
                <a:lnTo>
                  <a:pt x="504048" y="0"/>
                </a:lnTo>
                <a:lnTo>
                  <a:pt x="504048" y="640245"/>
                </a:lnTo>
                <a:lnTo>
                  <a:pt x="0" y="6402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7" id="17"/>
          <p:cNvSpPr/>
          <p:nvPr/>
        </p:nvSpPr>
        <p:spPr>
          <a:xfrm flipH="false" flipV="false" rot="0">
            <a:off x="6885034" y="8343917"/>
            <a:ext cx="1018191" cy="727544"/>
          </a:xfrm>
          <a:custGeom>
            <a:avLst/>
            <a:gdLst/>
            <a:ahLst/>
            <a:cxnLst/>
            <a:rect r="r" b="b" t="t" l="l"/>
            <a:pathLst>
              <a:path h="727544" w="1018191">
                <a:moveTo>
                  <a:pt x="0" y="0"/>
                </a:moveTo>
                <a:lnTo>
                  <a:pt x="1018192" y="0"/>
                </a:lnTo>
                <a:lnTo>
                  <a:pt x="1018192" y="727544"/>
                </a:lnTo>
                <a:lnTo>
                  <a:pt x="0" y="72754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8" id="18"/>
          <p:cNvSpPr txBox="true"/>
          <p:nvPr/>
        </p:nvSpPr>
        <p:spPr>
          <a:xfrm rot="0">
            <a:off x="377835" y="2143455"/>
            <a:ext cx="5051276" cy="895669"/>
          </a:xfrm>
          <a:prstGeom prst="rect">
            <a:avLst/>
          </a:prstGeom>
        </p:spPr>
        <p:txBody>
          <a:bodyPr anchor="t" rtlCol="false" tIns="0" lIns="0" bIns="0" rIns="0">
            <a:spAutoFit/>
          </a:bodyPr>
          <a:lstStyle/>
          <a:p>
            <a:pPr algn="l">
              <a:lnSpc>
                <a:spcPts val="3582"/>
              </a:lnSpc>
            </a:pPr>
            <a:r>
              <a:rPr lang="en-US" sz="2558" b="true">
                <a:solidFill>
                  <a:srgbClr val="2B2C30"/>
                </a:solidFill>
                <a:latin typeface="Public Sans Bold"/>
                <a:ea typeface="Public Sans Bold"/>
                <a:cs typeface="Public Sans Bold"/>
                <a:sym typeface="Public Sans Bold"/>
              </a:rPr>
              <a:t>📱 Mobile &amp; Web Application Development</a:t>
            </a:r>
          </a:p>
        </p:txBody>
      </p:sp>
      <p:sp>
        <p:nvSpPr>
          <p:cNvPr name="TextBox 19" id="19"/>
          <p:cNvSpPr txBox="true"/>
          <p:nvPr/>
        </p:nvSpPr>
        <p:spPr>
          <a:xfrm rot="0">
            <a:off x="432740" y="3045625"/>
            <a:ext cx="4941466" cy="1323340"/>
          </a:xfrm>
          <a:prstGeom prst="rect">
            <a:avLst/>
          </a:prstGeom>
        </p:spPr>
        <p:txBody>
          <a:bodyPr anchor="t" rtlCol="false" tIns="0" lIns="0" bIns="0" rIns="0">
            <a:spAutoFit/>
          </a:bodyPr>
          <a:lstStyle/>
          <a:p>
            <a:pPr algn="l">
              <a:lnSpc>
                <a:spcPts val="2659"/>
              </a:lnSpc>
            </a:pPr>
            <a:r>
              <a:rPr lang="en-US" sz="1899">
                <a:solidFill>
                  <a:srgbClr val="2B2C30"/>
                </a:solidFill>
                <a:latin typeface="Public Sans"/>
                <a:ea typeface="Public Sans"/>
                <a:cs typeface="Public Sans"/>
                <a:sym typeface="Public Sans"/>
              </a:rPr>
              <a:t>Converting this project into a mobile app (Android/iOS) or a web-based tool would improve accessibility and usability for a broader audience.</a:t>
            </a:r>
          </a:p>
        </p:txBody>
      </p:sp>
      <p:sp>
        <p:nvSpPr>
          <p:cNvPr name="TextBox 20" id="20"/>
          <p:cNvSpPr txBox="true"/>
          <p:nvPr/>
        </p:nvSpPr>
        <p:spPr>
          <a:xfrm rot="0">
            <a:off x="4414302" y="4467239"/>
            <a:ext cx="5051276" cy="895669"/>
          </a:xfrm>
          <a:prstGeom prst="rect">
            <a:avLst/>
          </a:prstGeom>
        </p:spPr>
        <p:txBody>
          <a:bodyPr anchor="t" rtlCol="false" tIns="0" lIns="0" bIns="0" rIns="0">
            <a:spAutoFit/>
          </a:bodyPr>
          <a:lstStyle/>
          <a:p>
            <a:pPr algn="l">
              <a:lnSpc>
                <a:spcPts val="3582"/>
              </a:lnSpc>
            </a:pPr>
            <a:r>
              <a:rPr lang="en-US" sz="2558" b="true">
                <a:solidFill>
                  <a:srgbClr val="2B2C30"/>
                </a:solidFill>
                <a:latin typeface="Public Sans Bold"/>
                <a:ea typeface="Public Sans Bold"/>
                <a:cs typeface="Public Sans Bold"/>
                <a:sym typeface="Public Sans Bold"/>
              </a:rPr>
              <a:t>⚡ Performance Optimization &amp; Large File Support</a:t>
            </a:r>
          </a:p>
        </p:txBody>
      </p:sp>
      <p:sp>
        <p:nvSpPr>
          <p:cNvPr name="TextBox 21" id="21"/>
          <p:cNvSpPr txBox="true"/>
          <p:nvPr/>
        </p:nvSpPr>
        <p:spPr>
          <a:xfrm rot="0">
            <a:off x="4414302" y="5477208"/>
            <a:ext cx="4941466" cy="1656715"/>
          </a:xfrm>
          <a:prstGeom prst="rect">
            <a:avLst/>
          </a:prstGeom>
        </p:spPr>
        <p:txBody>
          <a:bodyPr anchor="t" rtlCol="false" tIns="0" lIns="0" bIns="0" rIns="0">
            <a:spAutoFit/>
          </a:bodyPr>
          <a:lstStyle/>
          <a:p>
            <a:pPr algn="l">
              <a:lnSpc>
                <a:spcPts val="2659"/>
              </a:lnSpc>
            </a:pPr>
            <a:r>
              <a:rPr lang="en-US" sz="1899">
                <a:solidFill>
                  <a:srgbClr val="2B2C30"/>
                </a:solidFill>
                <a:latin typeface="Public Sans"/>
                <a:ea typeface="Public Sans"/>
                <a:cs typeface="Public Sans"/>
                <a:sym typeface="Public Sans"/>
              </a:rPr>
              <a:t>Optimizing the LSB embedding algorithm for handling high-resolution images and large files efficiently would make the application more practical for real-world scenarios.</a:t>
            </a:r>
          </a:p>
        </p:txBody>
      </p:sp>
      <p:sp>
        <p:nvSpPr>
          <p:cNvPr name="TextBox 22" id="22"/>
          <p:cNvSpPr txBox="true"/>
          <p:nvPr/>
        </p:nvSpPr>
        <p:spPr>
          <a:xfrm rot="0">
            <a:off x="322930" y="7448248"/>
            <a:ext cx="5051276" cy="895669"/>
          </a:xfrm>
          <a:prstGeom prst="rect">
            <a:avLst/>
          </a:prstGeom>
        </p:spPr>
        <p:txBody>
          <a:bodyPr anchor="t" rtlCol="false" tIns="0" lIns="0" bIns="0" rIns="0">
            <a:spAutoFit/>
          </a:bodyPr>
          <a:lstStyle/>
          <a:p>
            <a:pPr algn="l">
              <a:lnSpc>
                <a:spcPts val="3582"/>
              </a:lnSpc>
            </a:pPr>
            <a:r>
              <a:rPr lang="en-US" sz="2558" b="true">
                <a:solidFill>
                  <a:srgbClr val="2B2C30"/>
                </a:solidFill>
                <a:latin typeface="Public Sans Bold"/>
                <a:ea typeface="Public Sans Bold"/>
                <a:cs typeface="Public Sans Bold"/>
                <a:sym typeface="Public Sans Bold"/>
              </a:rPr>
              <a:t>📡 Embedding Messages in Other Media</a:t>
            </a:r>
          </a:p>
        </p:txBody>
      </p:sp>
      <p:sp>
        <p:nvSpPr>
          <p:cNvPr name="TextBox 23" id="23"/>
          <p:cNvSpPr txBox="true"/>
          <p:nvPr/>
        </p:nvSpPr>
        <p:spPr>
          <a:xfrm rot="0">
            <a:off x="322930" y="8438366"/>
            <a:ext cx="4941466" cy="1323340"/>
          </a:xfrm>
          <a:prstGeom prst="rect">
            <a:avLst/>
          </a:prstGeom>
        </p:spPr>
        <p:txBody>
          <a:bodyPr anchor="t" rtlCol="false" tIns="0" lIns="0" bIns="0" rIns="0">
            <a:spAutoFit/>
          </a:bodyPr>
          <a:lstStyle/>
          <a:p>
            <a:pPr algn="l">
              <a:lnSpc>
                <a:spcPts val="2659"/>
              </a:lnSpc>
            </a:pPr>
            <a:r>
              <a:rPr lang="en-US" sz="1899">
                <a:solidFill>
                  <a:srgbClr val="2B2C30"/>
                </a:solidFill>
                <a:latin typeface="Public Sans"/>
                <a:ea typeface="Public Sans"/>
                <a:cs typeface="Public Sans"/>
                <a:sym typeface="Public Sans"/>
              </a:rPr>
              <a:t>Extending the project to audio and video steganography would make it useful for multimedia data protection and covert communication.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AutoShape 2" id="2"/>
          <p:cNvSpPr/>
          <p:nvPr/>
        </p:nvSpPr>
        <p:spPr>
          <a:xfrm flipV="true">
            <a:off x="1028706" y="4514765"/>
            <a:ext cx="16230594" cy="38509"/>
          </a:xfrm>
          <a:prstGeom prst="line">
            <a:avLst/>
          </a:prstGeom>
          <a:ln cap="flat" w="9525">
            <a:solidFill>
              <a:srgbClr val="2B2C30"/>
            </a:solidFill>
            <a:prstDash val="solid"/>
            <a:headEnd type="none" len="sm" w="sm"/>
            <a:tailEnd type="none" len="sm" w="sm"/>
          </a:ln>
        </p:spPr>
      </p:sp>
      <p:sp>
        <p:nvSpPr>
          <p:cNvPr name="Freeform 3" id="3"/>
          <p:cNvSpPr/>
          <p:nvPr/>
        </p:nvSpPr>
        <p:spPr>
          <a:xfrm flipH="false" flipV="false" rot="0">
            <a:off x="16701746" y="8616481"/>
            <a:ext cx="535737" cy="727544"/>
          </a:xfrm>
          <a:custGeom>
            <a:avLst/>
            <a:gdLst/>
            <a:ahLst/>
            <a:cxnLst/>
            <a:rect r="r" b="b" t="t" l="l"/>
            <a:pathLst>
              <a:path h="727544" w="535737">
                <a:moveTo>
                  <a:pt x="0" y="0"/>
                </a:moveTo>
                <a:lnTo>
                  <a:pt x="535736" y="0"/>
                </a:lnTo>
                <a:lnTo>
                  <a:pt x="535736" y="727544"/>
                </a:lnTo>
                <a:lnTo>
                  <a:pt x="0" y="7275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06882" y="4728792"/>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EDUNET FOUNDATION – AICTE INTERNSHIP</a:t>
            </a:r>
          </a:p>
        </p:txBody>
      </p:sp>
      <p:sp>
        <p:nvSpPr>
          <p:cNvPr name="TextBox 5" id="5"/>
          <p:cNvSpPr txBox="true"/>
          <p:nvPr/>
        </p:nvSpPr>
        <p:spPr>
          <a:xfrm rot="0">
            <a:off x="850974" y="2332416"/>
            <a:ext cx="16408332" cy="2084083"/>
          </a:xfrm>
          <a:prstGeom prst="rect">
            <a:avLst/>
          </a:prstGeom>
        </p:spPr>
        <p:txBody>
          <a:bodyPr anchor="t" rtlCol="false" tIns="0" lIns="0" bIns="0" rIns="0">
            <a:spAutoFit/>
          </a:bodyPr>
          <a:lstStyle/>
          <a:p>
            <a:pPr algn="l">
              <a:lnSpc>
                <a:spcPts val="15250"/>
              </a:lnSpc>
            </a:pPr>
            <a:r>
              <a:rPr lang="en-US" sz="16758" spc="83">
                <a:solidFill>
                  <a:srgbClr val="2B2C30"/>
                </a:solidFill>
                <a:latin typeface="Playfair Display"/>
                <a:ea typeface="Playfair Display"/>
                <a:cs typeface="Playfair Display"/>
                <a:sym typeface="Playfair Display"/>
              </a:rPr>
              <a:t>Thank you!</a:t>
            </a:r>
          </a:p>
        </p:txBody>
      </p:sp>
      <p:sp>
        <p:nvSpPr>
          <p:cNvPr name="TextBox 6" id="6"/>
          <p:cNvSpPr txBox="true"/>
          <p:nvPr/>
        </p:nvSpPr>
        <p:spPr>
          <a:xfrm rot="0">
            <a:off x="1016407" y="8041005"/>
            <a:ext cx="7862435" cy="1303020"/>
          </a:xfrm>
          <a:prstGeom prst="rect">
            <a:avLst/>
          </a:prstGeom>
        </p:spPr>
        <p:txBody>
          <a:bodyPr anchor="t" rtlCol="false" tIns="0" lIns="0" bIns="0" rIns="0">
            <a:spAutoFit/>
          </a:bodyPr>
          <a:lstStyle/>
          <a:p>
            <a:pPr algn="l">
              <a:lnSpc>
                <a:spcPts val="3450"/>
              </a:lnSpc>
            </a:pPr>
            <a:r>
              <a:rPr lang="en-US" sz="2300">
                <a:solidFill>
                  <a:srgbClr val="2B2C30"/>
                </a:solidFill>
                <a:latin typeface="Public Sans"/>
                <a:ea typeface="Public Sans"/>
                <a:cs typeface="Public Sans"/>
                <a:sym typeface="Public Sans"/>
              </a:rPr>
              <a:t>BY SHIRLYN JENITA JASPER</a:t>
            </a:r>
          </a:p>
          <a:p>
            <a:pPr algn="l">
              <a:lnSpc>
                <a:spcPts val="3450"/>
              </a:lnSpc>
            </a:pPr>
            <a:r>
              <a:rPr lang="en-US" sz="2300">
                <a:solidFill>
                  <a:srgbClr val="2B2C30"/>
                </a:solidFill>
                <a:latin typeface="Public Sans"/>
                <a:ea typeface="Public Sans"/>
                <a:cs typeface="Public Sans"/>
                <a:sym typeface="Public Sans"/>
              </a:rPr>
              <a:t>FATIMA COLLEGE</a:t>
            </a:r>
          </a:p>
          <a:p>
            <a:pPr algn="l">
              <a:lnSpc>
                <a:spcPts val="3450"/>
              </a:lnSpc>
            </a:pPr>
            <a:r>
              <a:rPr lang="en-US" sz="2300">
                <a:solidFill>
                  <a:srgbClr val="2B2C30"/>
                </a:solidFill>
                <a:latin typeface="Public Sans"/>
                <a:ea typeface="Public Sans"/>
                <a:cs typeface="Public Sans"/>
                <a:sym typeface="Public Sans"/>
              </a:rPr>
              <a:t>Student ID: STU667ed5e035cc71719588320</a:t>
            </a:r>
          </a:p>
        </p:txBody>
      </p:sp>
      <p:sp>
        <p:nvSpPr>
          <p:cNvPr name="TextBox 7" id="7"/>
          <p:cNvSpPr txBox="true"/>
          <p:nvPr/>
        </p:nvSpPr>
        <p:spPr>
          <a:xfrm rot="0">
            <a:off x="1028706" y="5551341"/>
            <a:ext cx="3223320" cy="615949"/>
          </a:xfrm>
          <a:prstGeom prst="rect">
            <a:avLst/>
          </a:prstGeom>
        </p:spPr>
        <p:txBody>
          <a:bodyPr anchor="t" rtlCol="false" tIns="0" lIns="0" bIns="0" rIns="0">
            <a:spAutoFit/>
          </a:bodyPr>
          <a:lstStyle/>
          <a:p>
            <a:pPr algn="ctr">
              <a:lnSpc>
                <a:spcPts val="4900"/>
              </a:lnSpc>
            </a:pPr>
            <a:r>
              <a:rPr lang="en-US" sz="3500" b="true">
                <a:solidFill>
                  <a:srgbClr val="2B2C30"/>
                </a:solidFill>
                <a:latin typeface="Public Sans Bold"/>
                <a:ea typeface="Public Sans Bold"/>
                <a:cs typeface="Public Sans Bold"/>
                <a:sym typeface="Public Sans Bold"/>
              </a:rPr>
              <a:t>IBM Skillsbuild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DAGfJwKJFPI</dc:identifier>
  <dcterms:modified xsi:type="dcterms:W3CDTF">2011-08-01T06:04:30Z</dcterms:modified>
  <cp:revision>1</cp:revision>
  <dc:title>Pitch Deck</dc:title>
</cp:coreProperties>
</file>